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90" r:id="rId3"/>
    <p:sldId id="262" r:id="rId4"/>
    <p:sldId id="291" r:id="rId5"/>
    <p:sldId id="284" r:id="rId6"/>
    <p:sldId id="295" r:id="rId7"/>
    <p:sldId id="296" r:id="rId8"/>
    <p:sldId id="277" r:id="rId9"/>
    <p:sldId id="268" r:id="rId10"/>
    <p:sldId id="269" r:id="rId11"/>
    <p:sldId id="270" r:id="rId12"/>
    <p:sldId id="271" r:id="rId13"/>
    <p:sldId id="297" r:id="rId14"/>
    <p:sldId id="285" r:id="rId15"/>
    <p:sldId id="282" r:id="rId16"/>
    <p:sldId id="281" r:id="rId17"/>
    <p:sldId id="283" r:id="rId18"/>
    <p:sldId id="289" r:id="rId19"/>
    <p:sldId id="287" r:id="rId20"/>
    <p:sldId id="276" r:id="rId21"/>
    <p:sldId id="293" r:id="rId22"/>
    <p:sldId id="29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FF"/>
    <a:srgbClr val="39A907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A029D-ECFA-4171-8706-CCD26C185E56}" type="doc">
      <dgm:prSet loTypeId="urn:microsoft.com/office/officeart/2005/8/layout/default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4C84C28D-D416-4276-8F0F-8BFC3AF29453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Singapore Ministry of Law reported a notable 23.6% increase in individual bankruptcy cases in 2024. 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A78BB989-2BEE-45E3-9CCC-263D3CB19D3D}" type="parTrans" cxnId="{0860C5CF-2E54-47BB-8FC6-A849E801F67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891EEFC-D9BB-4433-A872-E6211E97D971}" type="sibTrans" cxnId="{0860C5CF-2E54-47BB-8FC6-A849E801F67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BD63D27-571C-4C4C-A8FE-C5874242FA64}">
      <dgm:prSet/>
      <dgm:spPr/>
      <dgm:t>
        <a:bodyPr/>
        <a:lstStyle/>
        <a:p>
          <a:r>
            <a:rPr lang="en-US" b="1">
              <a:solidFill>
                <a:schemeClr val="tx1"/>
              </a:solidFill>
              <a:latin typeface="+mj-lt"/>
            </a:rPr>
            <a:t>American owed approx. $251 billion personal loan debt by Q4 2024</a:t>
          </a:r>
          <a:r>
            <a:rPr lang="en-US">
              <a:solidFill>
                <a:schemeClr val="tx1"/>
              </a:solidFill>
              <a:latin typeface="+mj-lt"/>
            </a:rPr>
            <a:t>.</a:t>
          </a:r>
        </a:p>
      </dgm:t>
    </dgm:pt>
    <dgm:pt modelId="{386D021F-A9C0-477F-9293-53E23707C273}" type="parTrans" cxnId="{286EB3EA-1170-4033-A20A-BFF32D20391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995F16F4-B67A-4BFB-8071-DAB1655CB1E4}" type="sibTrans" cxnId="{286EB3EA-1170-4033-A20A-BFF32D20391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D132643-2A5D-4336-BB39-1715A2741A05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Bank / Financial Institution may face the risk of loan default. 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CE499057-669A-4C5F-852D-BDCDA1AFC247}" type="parTrans" cxnId="{E0A24421-3E21-4AB9-AEA8-8FD80EF15C5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CA0A307E-E2F7-463F-931C-DA76F23A58EE}" type="sibTrans" cxnId="{E0A24421-3E21-4AB9-AEA8-8FD80EF15C5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A5165E05-1626-419B-9662-4C65C8E1A55E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A model has been built to minimize the loss due to loan default.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5230CC54-6C20-4AC8-A6C3-26221E48078C}" type="parTrans" cxnId="{500836DB-7A26-4265-A669-B222F308BF0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822E147-6DB9-4E2F-85F6-124ACCFC3C48}" type="sibTrans" cxnId="{500836DB-7A26-4265-A669-B222F308BF0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6E928EBC-7F2D-4CF6-BEB9-0133385DD4AC}" type="pres">
      <dgm:prSet presAssocID="{BB2A029D-ECFA-4171-8706-CCD26C185E56}" presName="diagram" presStyleCnt="0">
        <dgm:presLayoutVars>
          <dgm:dir/>
          <dgm:resizeHandles val="exact"/>
        </dgm:presLayoutVars>
      </dgm:prSet>
      <dgm:spPr/>
    </dgm:pt>
    <dgm:pt modelId="{F1A30FBE-DC7D-41BC-B7D8-064206C753BE}" type="pres">
      <dgm:prSet presAssocID="{4C84C28D-D416-4276-8F0F-8BFC3AF29453}" presName="node" presStyleLbl="node1" presStyleIdx="0" presStyleCnt="4">
        <dgm:presLayoutVars>
          <dgm:bulletEnabled val="1"/>
        </dgm:presLayoutVars>
      </dgm:prSet>
      <dgm:spPr/>
    </dgm:pt>
    <dgm:pt modelId="{F9BCC127-9317-4447-A9E9-A5758612F618}" type="pres">
      <dgm:prSet presAssocID="{0891EEFC-D9BB-4433-A872-E6211E97D971}" presName="sibTrans" presStyleCnt="0"/>
      <dgm:spPr/>
    </dgm:pt>
    <dgm:pt modelId="{5CB08C2A-621C-4E78-AF64-EA88902595CC}" type="pres">
      <dgm:prSet presAssocID="{BBD63D27-571C-4C4C-A8FE-C5874242FA64}" presName="node" presStyleLbl="node1" presStyleIdx="1" presStyleCnt="4">
        <dgm:presLayoutVars>
          <dgm:bulletEnabled val="1"/>
        </dgm:presLayoutVars>
      </dgm:prSet>
      <dgm:spPr/>
    </dgm:pt>
    <dgm:pt modelId="{F7912CF6-6272-4C27-AD98-3344DF2FDEF5}" type="pres">
      <dgm:prSet presAssocID="{995F16F4-B67A-4BFB-8071-DAB1655CB1E4}" presName="sibTrans" presStyleCnt="0"/>
      <dgm:spPr/>
    </dgm:pt>
    <dgm:pt modelId="{42790AFC-F23C-4A87-B02F-2DD52D328BED}" type="pres">
      <dgm:prSet presAssocID="{1D132643-2A5D-4336-BB39-1715A2741A05}" presName="node" presStyleLbl="node1" presStyleIdx="2" presStyleCnt="4">
        <dgm:presLayoutVars>
          <dgm:bulletEnabled val="1"/>
        </dgm:presLayoutVars>
      </dgm:prSet>
      <dgm:spPr/>
    </dgm:pt>
    <dgm:pt modelId="{263397C7-8193-44EE-AAF3-FAC6250BB9B7}" type="pres">
      <dgm:prSet presAssocID="{CA0A307E-E2F7-463F-931C-DA76F23A58EE}" presName="sibTrans" presStyleCnt="0"/>
      <dgm:spPr/>
    </dgm:pt>
    <dgm:pt modelId="{1B62874C-CED6-4A81-9B68-A327A94CFF4C}" type="pres">
      <dgm:prSet presAssocID="{A5165E05-1626-419B-9662-4C65C8E1A55E}" presName="node" presStyleLbl="node1" presStyleIdx="3" presStyleCnt="4">
        <dgm:presLayoutVars>
          <dgm:bulletEnabled val="1"/>
        </dgm:presLayoutVars>
      </dgm:prSet>
      <dgm:spPr/>
    </dgm:pt>
  </dgm:ptLst>
  <dgm:cxnLst>
    <dgm:cxn modelId="{A7183911-1C61-4EF9-B604-BBD579A536F2}" type="presOf" srcId="{A5165E05-1626-419B-9662-4C65C8E1A55E}" destId="{1B62874C-CED6-4A81-9B68-A327A94CFF4C}" srcOrd="0" destOrd="0" presId="urn:microsoft.com/office/officeart/2005/8/layout/default"/>
    <dgm:cxn modelId="{E0A24421-3E21-4AB9-AEA8-8FD80EF15C5C}" srcId="{BB2A029D-ECFA-4171-8706-CCD26C185E56}" destId="{1D132643-2A5D-4336-BB39-1715A2741A05}" srcOrd="2" destOrd="0" parTransId="{CE499057-669A-4C5F-852D-BDCDA1AFC247}" sibTransId="{CA0A307E-E2F7-463F-931C-DA76F23A58EE}"/>
    <dgm:cxn modelId="{CC504B26-9471-4513-BE93-6F6EF2A49E8A}" type="presOf" srcId="{BB2A029D-ECFA-4171-8706-CCD26C185E56}" destId="{6E928EBC-7F2D-4CF6-BEB9-0133385DD4AC}" srcOrd="0" destOrd="0" presId="urn:microsoft.com/office/officeart/2005/8/layout/default"/>
    <dgm:cxn modelId="{6EA6233B-41DC-40E5-A641-0F24025DC76C}" type="presOf" srcId="{BBD63D27-571C-4C4C-A8FE-C5874242FA64}" destId="{5CB08C2A-621C-4E78-AF64-EA88902595CC}" srcOrd="0" destOrd="0" presId="urn:microsoft.com/office/officeart/2005/8/layout/default"/>
    <dgm:cxn modelId="{3A6C406E-A935-4620-B9AD-083093C4C530}" type="presOf" srcId="{1D132643-2A5D-4336-BB39-1715A2741A05}" destId="{42790AFC-F23C-4A87-B02F-2DD52D328BED}" srcOrd="0" destOrd="0" presId="urn:microsoft.com/office/officeart/2005/8/layout/default"/>
    <dgm:cxn modelId="{43A1AE88-F0A5-4C8D-BC25-BF7DBE48E88A}" type="presOf" srcId="{4C84C28D-D416-4276-8F0F-8BFC3AF29453}" destId="{F1A30FBE-DC7D-41BC-B7D8-064206C753BE}" srcOrd="0" destOrd="0" presId="urn:microsoft.com/office/officeart/2005/8/layout/default"/>
    <dgm:cxn modelId="{0860C5CF-2E54-47BB-8FC6-A849E801F670}" srcId="{BB2A029D-ECFA-4171-8706-CCD26C185E56}" destId="{4C84C28D-D416-4276-8F0F-8BFC3AF29453}" srcOrd="0" destOrd="0" parTransId="{A78BB989-2BEE-45E3-9CCC-263D3CB19D3D}" sibTransId="{0891EEFC-D9BB-4433-A872-E6211E97D971}"/>
    <dgm:cxn modelId="{500836DB-7A26-4265-A669-B222F308BF00}" srcId="{BB2A029D-ECFA-4171-8706-CCD26C185E56}" destId="{A5165E05-1626-419B-9662-4C65C8E1A55E}" srcOrd="3" destOrd="0" parTransId="{5230CC54-6C20-4AC8-A6C3-26221E48078C}" sibTransId="{0822E147-6DB9-4E2F-85F6-124ACCFC3C48}"/>
    <dgm:cxn modelId="{286EB3EA-1170-4033-A20A-BFF32D203911}" srcId="{BB2A029D-ECFA-4171-8706-CCD26C185E56}" destId="{BBD63D27-571C-4C4C-A8FE-C5874242FA64}" srcOrd="1" destOrd="0" parTransId="{386D021F-A9C0-477F-9293-53E23707C273}" sibTransId="{995F16F4-B67A-4BFB-8071-DAB1655CB1E4}"/>
    <dgm:cxn modelId="{2FBF1079-EBC8-4417-B30A-BC1C0DDB9C31}" type="presParOf" srcId="{6E928EBC-7F2D-4CF6-BEB9-0133385DD4AC}" destId="{F1A30FBE-DC7D-41BC-B7D8-064206C753BE}" srcOrd="0" destOrd="0" presId="urn:microsoft.com/office/officeart/2005/8/layout/default"/>
    <dgm:cxn modelId="{71769923-CDD2-4616-9F41-35BBAF5573C6}" type="presParOf" srcId="{6E928EBC-7F2D-4CF6-BEB9-0133385DD4AC}" destId="{F9BCC127-9317-4447-A9E9-A5758612F618}" srcOrd="1" destOrd="0" presId="urn:microsoft.com/office/officeart/2005/8/layout/default"/>
    <dgm:cxn modelId="{BCBFE74D-4827-4F62-A77E-9856C151BCE6}" type="presParOf" srcId="{6E928EBC-7F2D-4CF6-BEB9-0133385DD4AC}" destId="{5CB08C2A-621C-4E78-AF64-EA88902595CC}" srcOrd="2" destOrd="0" presId="urn:microsoft.com/office/officeart/2005/8/layout/default"/>
    <dgm:cxn modelId="{EB97F1CE-FB52-43FB-9573-A4C2ACD94A6C}" type="presParOf" srcId="{6E928EBC-7F2D-4CF6-BEB9-0133385DD4AC}" destId="{F7912CF6-6272-4C27-AD98-3344DF2FDEF5}" srcOrd="3" destOrd="0" presId="urn:microsoft.com/office/officeart/2005/8/layout/default"/>
    <dgm:cxn modelId="{91DA7200-8E02-4297-BB7B-A0A6AB16EF94}" type="presParOf" srcId="{6E928EBC-7F2D-4CF6-BEB9-0133385DD4AC}" destId="{42790AFC-F23C-4A87-B02F-2DD52D328BED}" srcOrd="4" destOrd="0" presId="urn:microsoft.com/office/officeart/2005/8/layout/default"/>
    <dgm:cxn modelId="{7B868B39-42A6-4AC0-A1EE-5BE06F389F91}" type="presParOf" srcId="{6E928EBC-7F2D-4CF6-BEB9-0133385DD4AC}" destId="{263397C7-8193-44EE-AAF3-FAC6250BB9B7}" srcOrd="5" destOrd="0" presId="urn:microsoft.com/office/officeart/2005/8/layout/default"/>
    <dgm:cxn modelId="{05E08640-B84A-4C15-B5E6-A21FCB2C2813}" type="presParOf" srcId="{6E928EBC-7F2D-4CF6-BEB9-0133385DD4AC}" destId="{1B62874C-CED6-4A81-9B68-A327A94CFF4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DE19A0-9DBB-44BE-A50E-6DAB93E43953}" type="doc">
      <dgm:prSet loTypeId="urn:microsoft.com/office/officeart/2005/8/layout/vList5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SG"/>
        </a:p>
      </dgm:t>
    </dgm:pt>
    <dgm:pt modelId="{3EF251EB-E0D6-4830-ABCA-52D16640667F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  <a:latin typeface="+mj-lt"/>
            </a:rPr>
            <a:t>Lower financial discipline</a:t>
          </a:r>
          <a:endParaRPr lang="en-SG" sz="1600" dirty="0">
            <a:solidFill>
              <a:schemeClr val="tx1"/>
            </a:solidFill>
            <a:latin typeface="+mj-lt"/>
          </a:endParaRPr>
        </a:p>
      </dgm:t>
    </dgm:pt>
    <dgm:pt modelId="{D247779D-A06E-4749-B3D3-EE8BAD9CD5C3}" type="parTrans" cxnId="{8B13C075-E71D-41CF-AAE6-E19A084D3A13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8587E0AD-31B9-42FB-8DEA-026194700B3E}" type="sibTrans" cxnId="{8B13C075-E71D-41CF-AAE6-E19A084D3A13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1C121F0-F3FA-4170-A9BE-EF79F0108436}" type="pres">
      <dgm:prSet presAssocID="{5BDE19A0-9DBB-44BE-A50E-6DAB93E43953}" presName="Name0" presStyleCnt="0">
        <dgm:presLayoutVars>
          <dgm:dir/>
          <dgm:animLvl val="lvl"/>
          <dgm:resizeHandles val="exact"/>
        </dgm:presLayoutVars>
      </dgm:prSet>
      <dgm:spPr/>
    </dgm:pt>
    <dgm:pt modelId="{ECA41A9D-4BCE-4BBB-BDFB-544AAC4491B1}" type="pres">
      <dgm:prSet presAssocID="{3EF251EB-E0D6-4830-ABCA-52D16640667F}" presName="linNode" presStyleCnt="0"/>
      <dgm:spPr/>
    </dgm:pt>
    <dgm:pt modelId="{AEE3930A-70A5-4980-9C9C-DCA1158D5340}" type="pres">
      <dgm:prSet presAssocID="{3EF251EB-E0D6-4830-ABCA-52D16640667F}" presName="parentText" presStyleLbl="node1" presStyleIdx="0" presStyleCnt="1" custScaleX="148807" custScaleY="2000000">
        <dgm:presLayoutVars>
          <dgm:chMax val="1"/>
          <dgm:bulletEnabled val="1"/>
        </dgm:presLayoutVars>
      </dgm:prSet>
      <dgm:spPr/>
    </dgm:pt>
  </dgm:ptLst>
  <dgm:cxnLst>
    <dgm:cxn modelId="{482DB72F-54F6-459A-81D0-4F88962FD665}" type="presOf" srcId="{3EF251EB-E0D6-4830-ABCA-52D16640667F}" destId="{AEE3930A-70A5-4980-9C9C-DCA1158D5340}" srcOrd="0" destOrd="0" presId="urn:microsoft.com/office/officeart/2005/8/layout/vList5"/>
    <dgm:cxn modelId="{8B13C075-E71D-41CF-AAE6-E19A084D3A13}" srcId="{5BDE19A0-9DBB-44BE-A50E-6DAB93E43953}" destId="{3EF251EB-E0D6-4830-ABCA-52D16640667F}" srcOrd="0" destOrd="0" parTransId="{D247779D-A06E-4749-B3D3-EE8BAD9CD5C3}" sibTransId="{8587E0AD-31B9-42FB-8DEA-026194700B3E}"/>
    <dgm:cxn modelId="{7EE64CE1-083D-4F9A-924E-8558F81D1FDC}" type="presOf" srcId="{5BDE19A0-9DBB-44BE-A50E-6DAB93E43953}" destId="{D1C121F0-F3FA-4170-A9BE-EF79F0108436}" srcOrd="0" destOrd="0" presId="urn:microsoft.com/office/officeart/2005/8/layout/vList5"/>
    <dgm:cxn modelId="{4C55E63A-598A-4AD8-8625-1CFA1DF76F16}" type="presParOf" srcId="{D1C121F0-F3FA-4170-A9BE-EF79F0108436}" destId="{ECA41A9D-4BCE-4BBB-BDFB-544AAC4491B1}" srcOrd="0" destOrd="0" presId="urn:microsoft.com/office/officeart/2005/8/layout/vList5"/>
    <dgm:cxn modelId="{73822C4C-67D3-4233-8CA3-9567C95C8481}" type="presParOf" srcId="{ECA41A9D-4BCE-4BBB-BDFB-544AAC4491B1}" destId="{AEE3930A-70A5-4980-9C9C-DCA1158D534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DE19A0-9DBB-44BE-A50E-6DAB93E43953}" type="doc">
      <dgm:prSet loTypeId="urn:microsoft.com/office/officeart/2005/8/layout/vList5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SG"/>
        </a:p>
      </dgm:t>
    </dgm:pt>
    <dgm:pt modelId="{3EF251EB-E0D6-4830-ABCA-52D16640667F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  <a:latin typeface="+mj-lt"/>
            </a:rPr>
            <a:t>Unstable Income</a:t>
          </a:r>
          <a:endParaRPr lang="en-SG" sz="1600" dirty="0">
            <a:solidFill>
              <a:schemeClr val="tx1"/>
            </a:solidFill>
            <a:latin typeface="+mj-lt"/>
          </a:endParaRPr>
        </a:p>
      </dgm:t>
    </dgm:pt>
    <dgm:pt modelId="{D247779D-A06E-4749-B3D3-EE8BAD9CD5C3}" type="parTrans" cxnId="{8B13C075-E71D-41CF-AAE6-E19A084D3A13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8587E0AD-31B9-42FB-8DEA-026194700B3E}" type="sibTrans" cxnId="{8B13C075-E71D-41CF-AAE6-E19A084D3A13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AD4CDC0-4AE1-4331-8551-2247B0639238}">
      <dgm:prSet custT="1"/>
      <dgm:spPr/>
      <dgm:t>
        <a:bodyPr/>
        <a:lstStyle/>
        <a:p>
          <a:endParaRPr lang="en-SG" sz="1600" dirty="0">
            <a:solidFill>
              <a:schemeClr val="tx1"/>
            </a:solidFill>
            <a:latin typeface="+mj-lt"/>
          </a:endParaRPr>
        </a:p>
      </dgm:t>
    </dgm:pt>
    <dgm:pt modelId="{27989ED7-AB4D-48EA-AF27-86F3E68CBBBE}" type="parTrans" cxnId="{373DFE87-FCD7-48A4-8267-90353F1F5746}">
      <dgm:prSet/>
      <dgm:spPr/>
      <dgm:t>
        <a:bodyPr/>
        <a:lstStyle/>
        <a:p>
          <a:endParaRPr lang="en-MY"/>
        </a:p>
      </dgm:t>
    </dgm:pt>
    <dgm:pt modelId="{041B4EB0-8A51-429A-B17E-E32BEA05CAE7}" type="sibTrans" cxnId="{373DFE87-FCD7-48A4-8267-90353F1F5746}">
      <dgm:prSet/>
      <dgm:spPr/>
      <dgm:t>
        <a:bodyPr/>
        <a:lstStyle/>
        <a:p>
          <a:endParaRPr lang="en-MY"/>
        </a:p>
      </dgm:t>
    </dgm:pt>
    <dgm:pt modelId="{D1C121F0-F3FA-4170-A9BE-EF79F0108436}" type="pres">
      <dgm:prSet presAssocID="{5BDE19A0-9DBB-44BE-A50E-6DAB93E43953}" presName="Name0" presStyleCnt="0">
        <dgm:presLayoutVars>
          <dgm:dir/>
          <dgm:animLvl val="lvl"/>
          <dgm:resizeHandles val="exact"/>
        </dgm:presLayoutVars>
      </dgm:prSet>
      <dgm:spPr/>
    </dgm:pt>
    <dgm:pt modelId="{ECA41A9D-4BCE-4BBB-BDFB-544AAC4491B1}" type="pres">
      <dgm:prSet presAssocID="{3EF251EB-E0D6-4830-ABCA-52D16640667F}" presName="linNode" presStyleCnt="0"/>
      <dgm:spPr/>
    </dgm:pt>
    <dgm:pt modelId="{AEE3930A-70A5-4980-9C9C-DCA1158D5340}" type="pres">
      <dgm:prSet presAssocID="{3EF251EB-E0D6-4830-ABCA-52D16640667F}" presName="parentText" presStyleLbl="node1" presStyleIdx="0" presStyleCnt="2" custScaleX="148807" custScaleY="2000000">
        <dgm:presLayoutVars>
          <dgm:chMax val="1"/>
          <dgm:bulletEnabled val="1"/>
        </dgm:presLayoutVars>
      </dgm:prSet>
      <dgm:spPr/>
    </dgm:pt>
    <dgm:pt modelId="{5C473F72-C9AE-4332-8CD3-5A7C6B08191C}" type="pres">
      <dgm:prSet presAssocID="{8587E0AD-31B9-42FB-8DEA-026194700B3E}" presName="sp" presStyleCnt="0"/>
      <dgm:spPr/>
    </dgm:pt>
    <dgm:pt modelId="{6FB65CB1-263B-4DF9-B5C5-6E5B8DC6245A}" type="pres">
      <dgm:prSet presAssocID="{CAD4CDC0-4AE1-4331-8551-2247B0639238}" presName="linNode" presStyleCnt="0"/>
      <dgm:spPr/>
    </dgm:pt>
    <dgm:pt modelId="{1F7223F0-E090-4177-BFC0-DDF5B74A5608}" type="pres">
      <dgm:prSet presAssocID="{CAD4CDC0-4AE1-4331-8551-2247B0639238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482DB72F-54F6-459A-81D0-4F88962FD665}" type="presOf" srcId="{3EF251EB-E0D6-4830-ABCA-52D16640667F}" destId="{AEE3930A-70A5-4980-9C9C-DCA1158D5340}" srcOrd="0" destOrd="0" presId="urn:microsoft.com/office/officeart/2005/8/layout/vList5"/>
    <dgm:cxn modelId="{8B13C075-E71D-41CF-AAE6-E19A084D3A13}" srcId="{5BDE19A0-9DBB-44BE-A50E-6DAB93E43953}" destId="{3EF251EB-E0D6-4830-ABCA-52D16640667F}" srcOrd="0" destOrd="0" parTransId="{D247779D-A06E-4749-B3D3-EE8BAD9CD5C3}" sibTransId="{8587E0AD-31B9-42FB-8DEA-026194700B3E}"/>
    <dgm:cxn modelId="{373DFE87-FCD7-48A4-8267-90353F1F5746}" srcId="{5BDE19A0-9DBB-44BE-A50E-6DAB93E43953}" destId="{CAD4CDC0-4AE1-4331-8551-2247B0639238}" srcOrd="1" destOrd="0" parTransId="{27989ED7-AB4D-48EA-AF27-86F3E68CBBBE}" sibTransId="{041B4EB0-8A51-429A-B17E-E32BEA05CAE7}"/>
    <dgm:cxn modelId="{350E03E0-BB17-4E50-94FA-566171B95BC5}" type="presOf" srcId="{CAD4CDC0-4AE1-4331-8551-2247B0639238}" destId="{1F7223F0-E090-4177-BFC0-DDF5B74A5608}" srcOrd="0" destOrd="0" presId="urn:microsoft.com/office/officeart/2005/8/layout/vList5"/>
    <dgm:cxn modelId="{7EE64CE1-083D-4F9A-924E-8558F81D1FDC}" type="presOf" srcId="{5BDE19A0-9DBB-44BE-A50E-6DAB93E43953}" destId="{D1C121F0-F3FA-4170-A9BE-EF79F0108436}" srcOrd="0" destOrd="0" presId="urn:microsoft.com/office/officeart/2005/8/layout/vList5"/>
    <dgm:cxn modelId="{4C55E63A-598A-4AD8-8625-1CFA1DF76F16}" type="presParOf" srcId="{D1C121F0-F3FA-4170-A9BE-EF79F0108436}" destId="{ECA41A9D-4BCE-4BBB-BDFB-544AAC4491B1}" srcOrd="0" destOrd="0" presId="urn:microsoft.com/office/officeart/2005/8/layout/vList5"/>
    <dgm:cxn modelId="{73822C4C-67D3-4233-8CA3-9567C95C8481}" type="presParOf" srcId="{ECA41A9D-4BCE-4BBB-BDFB-544AAC4491B1}" destId="{AEE3930A-70A5-4980-9C9C-DCA1158D5340}" srcOrd="0" destOrd="0" presId="urn:microsoft.com/office/officeart/2005/8/layout/vList5"/>
    <dgm:cxn modelId="{1A04B14B-3E02-49AF-9276-47934C2EC6FC}" type="presParOf" srcId="{D1C121F0-F3FA-4170-A9BE-EF79F0108436}" destId="{5C473F72-C9AE-4332-8CD3-5A7C6B08191C}" srcOrd="1" destOrd="0" presId="urn:microsoft.com/office/officeart/2005/8/layout/vList5"/>
    <dgm:cxn modelId="{C6889721-E453-4A22-8D9F-18E0D602185C}" type="presParOf" srcId="{D1C121F0-F3FA-4170-A9BE-EF79F0108436}" destId="{6FB65CB1-263B-4DF9-B5C5-6E5B8DC6245A}" srcOrd="2" destOrd="0" presId="urn:microsoft.com/office/officeart/2005/8/layout/vList5"/>
    <dgm:cxn modelId="{BA711560-4DFC-4EF8-8865-151136C380AB}" type="presParOf" srcId="{6FB65CB1-263B-4DF9-B5C5-6E5B8DC6245A}" destId="{1F7223F0-E090-4177-BFC0-DDF5B74A560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FEFB50-59E2-4C39-801E-EB804CF65987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2A03E5-FB69-467F-99DA-B0E4BBD58468}">
      <dgm:prSet phldrT="[Text]" custT="1"/>
      <dgm:spPr/>
      <dgm:t>
        <a:bodyPr/>
        <a:lstStyle/>
        <a:p>
          <a:r>
            <a:rPr lang="en-SG" sz="2000" dirty="0">
              <a:latin typeface="+mj-lt"/>
            </a:rPr>
            <a:t>Bank Officer enters customer data into the model</a:t>
          </a:r>
        </a:p>
      </dgm:t>
    </dgm:pt>
    <dgm:pt modelId="{138375CC-DE55-4C59-A585-BCF6F79FF31C}" type="parTrans" cxnId="{C8A56766-A3C2-4C7E-A1AE-DEE16E873A8C}">
      <dgm:prSet/>
      <dgm:spPr/>
      <dgm:t>
        <a:bodyPr/>
        <a:lstStyle/>
        <a:p>
          <a:endParaRPr lang="en-SG" sz="2000">
            <a:latin typeface="+mj-lt"/>
          </a:endParaRPr>
        </a:p>
      </dgm:t>
    </dgm:pt>
    <dgm:pt modelId="{D0BCDCDA-AE31-4E03-9925-44AE68DEDB49}" type="sibTrans" cxnId="{C8A56766-A3C2-4C7E-A1AE-DEE16E873A8C}">
      <dgm:prSet custT="1"/>
      <dgm:spPr/>
      <dgm:t>
        <a:bodyPr/>
        <a:lstStyle/>
        <a:p>
          <a:endParaRPr lang="en-SG" sz="2000">
            <a:latin typeface="+mj-lt"/>
          </a:endParaRPr>
        </a:p>
      </dgm:t>
    </dgm:pt>
    <dgm:pt modelId="{F51AF252-7BA7-4907-A692-CFBBD78AEEB2}">
      <dgm:prSet phldrT="[Text]" custT="1"/>
      <dgm:spPr/>
      <dgm:t>
        <a:bodyPr/>
        <a:lstStyle/>
        <a:p>
          <a:r>
            <a:rPr lang="en-SG" sz="2000" dirty="0">
              <a:latin typeface="+mj-lt"/>
            </a:rPr>
            <a:t>Run the model</a:t>
          </a:r>
        </a:p>
      </dgm:t>
    </dgm:pt>
    <dgm:pt modelId="{03231499-CDCD-4914-8824-B6F0BA8FB37A}" type="parTrans" cxnId="{EDE503D7-8E7D-48A3-A984-839DC44100E4}">
      <dgm:prSet/>
      <dgm:spPr/>
      <dgm:t>
        <a:bodyPr/>
        <a:lstStyle/>
        <a:p>
          <a:endParaRPr lang="en-SG" sz="2000">
            <a:latin typeface="+mj-lt"/>
          </a:endParaRPr>
        </a:p>
      </dgm:t>
    </dgm:pt>
    <dgm:pt modelId="{BD92497D-ED5E-48E1-BDCC-53FB1D77C557}" type="sibTrans" cxnId="{EDE503D7-8E7D-48A3-A984-839DC44100E4}">
      <dgm:prSet custT="1"/>
      <dgm:spPr/>
      <dgm:t>
        <a:bodyPr/>
        <a:lstStyle/>
        <a:p>
          <a:endParaRPr lang="en-SG" sz="2000">
            <a:latin typeface="+mj-lt"/>
          </a:endParaRPr>
        </a:p>
      </dgm:t>
    </dgm:pt>
    <dgm:pt modelId="{0A153CFF-17DA-44E4-AAE8-143E994F8774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SG" sz="2000" dirty="0">
              <a:latin typeface="+mj-lt"/>
            </a:rPr>
            <a:t>If result = TRUE,</a:t>
          </a:r>
        </a:p>
        <a:p>
          <a:pPr>
            <a:spcAft>
              <a:spcPct val="35000"/>
            </a:spcAft>
          </a:pPr>
          <a:r>
            <a:rPr lang="en-SG" sz="2000" dirty="0">
              <a:latin typeface="+mj-lt"/>
            </a:rPr>
            <a:t>possibility of default is detected </a:t>
          </a:r>
        </a:p>
      </dgm:t>
    </dgm:pt>
    <dgm:pt modelId="{12CB8330-4269-42AB-8953-9C46A75A85ED}" type="parTrans" cxnId="{A76F7801-82F2-460F-8772-4E3D30016725}">
      <dgm:prSet/>
      <dgm:spPr/>
      <dgm:t>
        <a:bodyPr/>
        <a:lstStyle/>
        <a:p>
          <a:endParaRPr lang="en-SG" sz="2000">
            <a:latin typeface="+mj-lt"/>
          </a:endParaRPr>
        </a:p>
      </dgm:t>
    </dgm:pt>
    <dgm:pt modelId="{4C190772-3332-4160-9E31-DD1855C5FE01}" type="sibTrans" cxnId="{A76F7801-82F2-460F-8772-4E3D30016725}">
      <dgm:prSet custT="1"/>
      <dgm:spPr/>
      <dgm:t>
        <a:bodyPr/>
        <a:lstStyle/>
        <a:p>
          <a:endParaRPr lang="en-SG" sz="2000">
            <a:latin typeface="+mj-lt"/>
          </a:endParaRPr>
        </a:p>
      </dgm:t>
    </dgm:pt>
    <dgm:pt modelId="{8FFCACDC-75F8-482C-86C7-CF0D38D2C1A7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SG" sz="2000" dirty="0">
              <a:latin typeface="+mj-lt"/>
            </a:rPr>
            <a:t>Reject application</a:t>
          </a:r>
        </a:p>
      </dgm:t>
    </dgm:pt>
    <dgm:pt modelId="{C37B8993-8EC4-42B7-9A69-68A3E8503B90}" type="parTrans" cxnId="{517770E3-D338-42C4-95C1-CF52D5382933}">
      <dgm:prSet/>
      <dgm:spPr/>
      <dgm:t>
        <a:bodyPr/>
        <a:lstStyle/>
        <a:p>
          <a:endParaRPr lang="en-SG" sz="2000">
            <a:latin typeface="+mj-lt"/>
          </a:endParaRPr>
        </a:p>
      </dgm:t>
    </dgm:pt>
    <dgm:pt modelId="{A7870379-A1A7-4C2A-B57F-E7C8CFDC6E88}" type="sibTrans" cxnId="{517770E3-D338-42C4-95C1-CF52D5382933}">
      <dgm:prSet custT="1"/>
      <dgm:spPr>
        <a:solidFill>
          <a:schemeClr val="accent5"/>
        </a:solidFill>
      </dgm:spPr>
      <dgm:t>
        <a:bodyPr/>
        <a:lstStyle/>
        <a:p>
          <a:endParaRPr lang="en-SG" sz="2000" dirty="0">
            <a:latin typeface="+mj-lt"/>
          </a:endParaRPr>
        </a:p>
      </dgm:t>
    </dgm:pt>
    <dgm:pt modelId="{C1C7E134-CB7D-4632-950C-660E622035C8}">
      <dgm:prSet phldrT="[Text]" custT="1"/>
      <dgm:spPr>
        <a:solidFill>
          <a:srgbClr val="39A907"/>
        </a:solidFill>
      </dgm:spPr>
      <dgm:t>
        <a:bodyPr/>
        <a:lstStyle/>
        <a:p>
          <a:r>
            <a:rPr lang="en-SG" sz="2000" dirty="0">
              <a:latin typeface="+mj-lt"/>
            </a:rPr>
            <a:t>If result = FALSE, possibility of default is not detected</a:t>
          </a:r>
        </a:p>
      </dgm:t>
    </dgm:pt>
    <dgm:pt modelId="{B1B75DB7-61C8-401A-9DAA-5939A58790AF}" type="parTrans" cxnId="{5E16F541-B870-47D7-9090-26CDA91BD31E}">
      <dgm:prSet/>
      <dgm:spPr/>
      <dgm:t>
        <a:bodyPr/>
        <a:lstStyle/>
        <a:p>
          <a:endParaRPr lang="en-SG" sz="2000">
            <a:latin typeface="+mj-lt"/>
          </a:endParaRPr>
        </a:p>
      </dgm:t>
    </dgm:pt>
    <dgm:pt modelId="{A0FAC36A-C4E7-4971-8A30-A722D073D7C6}" type="sibTrans" cxnId="{5E16F541-B870-47D7-9090-26CDA91BD31E}">
      <dgm:prSet/>
      <dgm:spPr>
        <a:solidFill>
          <a:srgbClr val="92D050"/>
        </a:solidFill>
      </dgm:spPr>
      <dgm:t>
        <a:bodyPr/>
        <a:lstStyle/>
        <a:p>
          <a:endParaRPr lang="en-SG" sz="2000">
            <a:latin typeface="+mj-lt"/>
          </a:endParaRPr>
        </a:p>
      </dgm:t>
    </dgm:pt>
    <dgm:pt modelId="{4406D2A9-CD64-424B-9F3A-9ED71E3760ED}">
      <dgm:prSet phldrT="[Text]" custT="1"/>
      <dgm:spPr>
        <a:solidFill>
          <a:srgbClr val="009900"/>
        </a:solidFill>
      </dgm:spPr>
      <dgm:t>
        <a:bodyPr/>
        <a:lstStyle/>
        <a:p>
          <a:r>
            <a:rPr lang="en-SG" sz="2000" dirty="0">
              <a:latin typeface="+mj-lt"/>
            </a:rPr>
            <a:t>Approve Application /Proceed further</a:t>
          </a:r>
        </a:p>
      </dgm:t>
    </dgm:pt>
    <dgm:pt modelId="{3B41D04F-F6EC-4F96-806D-57871D911714}" type="parTrans" cxnId="{05AEB676-DB49-40D2-8841-944CA7728D8C}">
      <dgm:prSet/>
      <dgm:spPr/>
      <dgm:t>
        <a:bodyPr/>
        <a:lstStyle/>
        <a:p>
          <a:endParaRPr lang="en-SG"/>
        </a:p>
      </dgm:t>
    </dgm:pt>
    <dgm:pt modelId="{C08FBC9C-1EA3-4B72-B885-0A7039B0D565}" type="sibTrans" cxnId="{05AEB676-DB49-40D2-8841-944CA7728D8C}">
      <dgm:prSet/>
      <dgm:spPr/>
      <dgm:t>
        <a:bodyPr/>
        <a:lstStyle/>
        <a:p>
          <a:endParaRPr lang="en-SG"/>
        </a:p>
      </dgm:t>
    </dgm:pt>
    <dgm:pt modelId="{EC738B8E-D74C-472A-9854-AA3865D38245}" type="pres">
      <dgm:prSet presAssocID="{68FEFB50-59E2-4C39-801E-EB804CF65987}" presName="diagram" presStyleCnt="0">
        <dgm:presLayoutVars>
          <dgm:dir/>
          <dgm:resizeHandles val="exact"/>
        </dgm:presLayoutVars>
      </dgm:prSet>
      <dgm:spPr/>
    </dgm:pt>
    <dgm:pt modelId="{923DDC9A-6A2E-4688-AFD3-B6E798A766E1}" type="pres">
      <dgm:prSet presAssocID="{DB2A03E5-FB69-467F-99DA-B0E4BBD58468}" presName="node" presStyleLbl="node1" presStyleIdx="0" presStyleCnt="6">
        <dgm:presLayoutVars>
          <dgm:bulletEnabled val="1"/>
        </dgm:presLayoutVars>
      </dgm:prSet>
      <dgm:spPr/>
    </dgm:pt>
    <dgm:pt modelId="{BF2CC55B-DDE0-418F-873B-6A2CE81EC053}" type="pres">
      <dgm:prSet presAssocID="{D0BCDCDA-AE31-4E03-9925-44AE68DEDB49}" presName="sibTrans" presStyleLbl="sibTrans2D1" presStyleIdx="0" presStyleCnt="5"/>
      <dgm:spPr/>
    </dgm:pt>
    <dgm:pt modelId="{0A595E80-F6BD-4115-847C-B02458EB650D}" type="pres">
      <dgm:prSet presAssocID="{D0BCDCDA-AE31-4E03-9925-44AE68DEDB49}" presName="connectorText" presStyleLbl="sibTrans2D1" presStyleIdx="0" presStyleCnt="5"/>
      <dgm:spPr/>
    </dgm:pt>
    <dgm:pt modelId="{D7575BA6-50BF-48CB-AADA-93B1A4990AB7}" type="pres">
      <dgm:prSet presAssocID="{F51AF252-7BA7-4907-A692-CFBBD78AEEB2}" presName="node" presStyleLbl="node1" presStyleIdx="1" presStyleCnt="6">
        <dgm:presLayoutVars>
          <dgm:bulletEnabled val="1"/>
        </dgm:presLayoutVars>
      </dgm:prSet>
      <dgm:spPr/>
    </dgm:pt>
    <dgm:pt modelId="{1788A08F-7363-4578-BB3B-4FC600C20946}" type="pres">
      <dgm:prSet presAssocID="{BD92497D-ED5E-48E1-BDCC-53FB1D77C557}" presName="sibTrans" presStyleLbl="sibTrans2D1" presStyleIdx="1" presStyleCnt="5"/>
      <dgm:spPr/>
    </dgm:pt>
    <dgm:pt modelId="{5FFDAF06-826B-4520-8ECE-336E314E73F9}" type="pres">
      <dgm:prSet presAssocID="{BD92497D-ED5E-48E1-BDCC-53FB1D77C557}" presName="connectorText" presStyleLbl="sibTrans2D1" presStyleIdx="1" presStyleCnt="5"/>
      <dgm:spPr/>
    </dgm:pt>
    <dgm:pt modelId="{510413F0-B7A1-4B6A-BD3B-1E5F05A23057}" type="pres">
      <dgm:prSet presAssocID="{0A153CFF-17DA-44E4-AAE8-143E994F8774}" presName="node" presStyleLbl="node1" presStyleIdx="2" presStyleCnt="6">
        <dgm:presLayoutVars>
          <dgm:bulletEnabled val="1"/>
        </dgm:presLayoutVars>
      </dgm:prSet>
      <dgm:spPr/>
    </dgm:pt>
    <dgm:pt modelId="{2C78E572-8E34-4783-AFB1-761889332C61}" type="pres">
      <dgm:prSet presAssocID="{4C190772-3332-4160-9E31-DD1855C5FE01}" presName="sibTrans" presStyleLbl="sibTrans2D1" presStyleIdx="2" presStyleCnt="5" custLinFactX="-300000" custLinFactNeighborX="-311567" custLinFactNeighborY="-4233"/>
      <dgm:spPr/>
    </dgm:pt>
    <dgm:pt modelId="{CF4B91DF-DDD9-44C2-A811-268273C97C31}" type="pres">
      <dgm:prSet presAssocID="{4C190772-3332-4160-9E31-DD1855C5FE01}" presName="connectorText" presStyleLbl="sibTrans2D1" presStyleIdx="2" presStyleCnt="5"/>
      <dgm:spPr/>
    </dgm:pt>
    <dgm:pt modelId="{10A5E9A8-AC43-41D6-8A68-695B79861C0F}" type="pres">
      <dgm:prSet presAssocID="{8FFCACDC-75F8-482C-86C7-CF0D38D2C1A7}" presName="node" presStyleLbl="node1" presStyleIdx="3" presStyleCnt="6">
        <dgm:presLayoutVars>
          <dgm:bulletEnabled val="1"/>
        </dgm:presLayoutVars>
      </dgm:prSet>
      <dgm:spPr/>
    </dgm:pt>
    <dgm:pt modelId="{12C82728-E0A8-42B1-AB86-F57F2BEE3B21}" type="pres">
      <dgm:prSet presAssocID="{A7870379-A1A7-4C2A-B57F-E7C8CFDC6E88}" presName="sibTrans" presStyleLbl="sibTrans2D1" presStyleIdx="3" presStyleCnt="5" custAng="16200000" custLinFactX="134201" custLinFactY="-100000" custLinFactNeighborX="200000" custLinFactNeighborY="-122201"/>
      <dgm:spPr/>
    </dgm:pt>
    <dgm:pt modelId="{50A12BB0-9FAA-4D0C-8F4F-746CC7CA40CB}" type="pres">
      <dgm:prSet presAssocID="{A7870379-A1A7-4C2A-B57F-E7C8CFDC6E88}" presName="connectorText" presStyleLbl="sibTrans2D1" presStyleIdx="3" presStyleCnt="5"/>
      <dgm:spPr/>
    </dgm:pt>
    <dgm:pt modelId="{9CC9C660-3731-4557-81A2-3CC82F73E073}" type="pres">
      <dgm:prSet presAssocID="{C1C7E134-CB7D-4632-950C-660E622035C8}" presName="node" presStyleLbl="node1" presStyleIdx="4" presStyleCnt="6" custScaleY="114209">
        <dgm:presLayoutVars>
          <dgm:bulletEnabled val="1"/>
        </dgm:presLayoutVars>
      </dgm:prSet>
      <dgm:spPr/>
    </dgm:pt>
    <dgm:pt modelId="{7BCE8D97-1A24-45E8-A4EF-ADEAB1EFE14D}" type="pres">
      <dgm:prSet presAssocID="{A0FAC36A-C4E7-4971-8A30-A722D073D7C6}" presName="sibTrans" presStyleLbl="sibTrans2D1" presStyleIdx="4" presStyleCnt="5"/>
      <dgm:spPr/>
    </dgm:pt>
    <dgm:pt modelId="{5B312A83-1240-45ED-BE4E-0B71EC201073}" type="pres">
      <dgm:prSet presAssocID="{A0FAC36A-C4E7-4971-8A30-A722D073D7C6}" presName="connectorText" presStyleLbl="sibTrans2D1" presStyleIdx="4" presStyleCnt="5"/>
      <dgm:spPr/>
    </dgm:pt>
    <dgm:pt modelId="{C032AB18-4B6A-44E1-995B-14AD24A3C3FC}" type="pres">
      <dgm:prSet presAssocID="{4406D2A9-CD64-424B-9F3A-9ED71E3760ED}" presName="node" presStyleLbl="node1" presStyleIdx="5" presStyleCnt="6">
        <dgm:presLayoutVars>
          <dgm:bulletEnabled val="1"/>
        </dgm:presLayoutVars>
      </dgm:prSet>
      <dgm:spPr/>
    </dgm:pt>
  </dgm:ptLst>
  <dgm:cxnLst>
    <dgm:cxn modelId="{A76F7801-82F2-460F-8772-4E3D30016725}" srcId="{68FEFB50-59E2-4C39-801E-EB804CF65987}" destId="{0A153CFF-17DA-44E4-AAE8-143E994F8774}" srcOrd="2" destOrd="0" parTransId="{12CB8330-4269-42AB-8953-9C46A75A85ED}" sibTransId="{4C190772-3332-4160-9E31-DD1855C5FE01}"/>
    <dgm:cxn modelId="{F5D22416-6205-4393-84F0-D99157B8DFBB}" type="presOf" srcId="{D0BCDCDA-AE31-4E03-9925-44AE68DEDB49}" destId="{0A595E80-F6BD-4115-847C-B02458EB650D}" srcOrd="1" destOrd="0" presId="urn:microsoft.com/office/officeart/2005/8/layout/process5"/>
    <dgm:cxn modelId="{0FB6FA17-D254-4FB2-89CD-984476234A83}" type="presOf" srcId="{8FFCACDC-75F8-482C-86C7-CF0D38D2C1A7}" destId="{10A5E9A8-AC43-41D6-8A68-695B79861C0F}" srcOrd="0" destOrd="0" presId="urn:microsoft.com/office/officeart/2005/8/layout/process5"/>
    <dgm:cxn modelId="{C66E0E19-405E-4446-A959-051332ED02A4}" type="presOf" srcId="{DB2A03E5-FB69-467F-99DA-B0E4BBD58468}" destId="{923DDC9A-6A2E-4688-AFD3-B6E798A766E1}" srcOrd="0" destOrd="0" presId="urn:microsoft.com/office/officeart/2005/8/layout/process5"/>
    <dgm:cxn modelId="{1B8E1F1B-89A0-4A42-BAE9-97B4F29BC38A}" type="presOf" srcId="{BD92497D-ED5E-48E1-BDCC-53FB1D77C557}" destId="{1788A08F-7363-4578-BB3B-4FC600C20946}" srcOrd="0" destOrd="0" presId="urn:microsoft.com/office/officeart/2005/8/layout/process5"/>
    <dgm:cxn modelId="{98A6581E-730B-4BA8-B5CB-7249FE0B675E}" type="presOf" srcId="{A7870379-A1A7-4C2A-B57F-E7C8CFDC6E88}" destId="{12C82728-E0A8-42B1-AB86-F57F2BEE3B21}" srcOrd="0" destOrd="0" presId="urn:microsoft.com/office/officeart/2005/8/layout/process5"/>
    <dgm:cxn modelId="{D34BE322-921F-4272-B3FF-5B6460223BD8}" type="presOf" srcId="{0A153CFF-17DA-44E4-AAE8-143E994F8774}" destId="{510413F0-B7A1-4B6A-BD3B-1E5F05A23057}" srcOrd="0" destOrd="0" presId="urn:microsoft.com/office/officeart/2005/8/layout/process5"/>
    <dgm:cxn modelId="{29206C39-A9D4-4967-881D-039F4EC92E3B}" type="presOf" srcId="{A7870379-A1A7-4C2A-B57F-E7C8CFDC6E88}" destId="{50A12BB0-9FAA-4D0C-8F4F-746CC7CA40CB}" srcOrd="1" destOrd="0" presId="urn:microsoft.com/office/officeart/2005/8/layout/process5"/>
    <dgm:cxn modelId="{225D0F5C-9313-4ED7-BBD6-BDE1B900B170}" type="presOf" srcId="{D0BCDCDA-AE31-4E03-9925-44AE68DEDB49}" destId="{BF2CC55B-DDE0-418F-873B-6A2CE81EC053}" srcOrd="0" destOrd="0" presId="urn:microsoft.com/office/officeart/2005/8/layout/process5"/>
    <dgm:cxn modelId="{5E16F541-B870-47D7-9090-26CDA91BD31E}" srcId="{68FEFB50-59E2-4C39-801E-EB804CF65987}" destId="{C1C7E134-CB7D-4632-950C-660E622035C8}" srcOrd="4" destOrd="0" parTransId="{B1B75DB7-61C8-401A-9DAA-5939A58790AF}" sibTransId="{A0FAC36A-C4E7-4971-8A30-A722D073D7C6}"/>
    <dgm:cxn modelId="{AE91CC62-748C-4D20-9DD8-963EAC6DC227}" type="presOf" srcId="{68FEFB50-59E2-4C39-801E-EB804CF65987}" destId="{EC738B8E-D74C-472A-9854-AA3865D38245}" srcOrd="0" destOrd="0" presId="urn:microsoft.com/office/officeart/2005/8/layout/process5"/>
    <dgm:cxn modelId="{C8A56766-A3C2-4C7E-A1AE-DEE16E873A8C}" srcId="{68FEFB50-59E2-4C39-801E-EB804CF65987}" destId="{DB2A03E5-FB69-467F-99DA-B0E4BBD58468}" srcOrd="0" destOrd="0" parTransId="{138375CC-DE55-4C59-A585-BCF6F79FF31C}" sibTransId="{D0BCDCDA-AE31-4E03-9925-44AE68DEDB49}"/>
    <dgm:cxn modelId="{CE1B8970-E0E2-4CE6-90C0-DBB94B5B786D}" type="presOf" srcId="{A0FAC36A-C4E7-4971-8A30-A722D073D7C6}" destId="{7BCE8D97-1A24-45E8-A4EF-ADEAB1EFE14D}" srcOrd="0" destOrd="0" presId="urn:microsoft.com/office/officeart/2005/8/layout/process5"/>
    <dgm:cxn modelId="{05AEB676-DB49-40D2-8841-944CA7728D8C}" srcId="{68FEFB50-59E2-4C39-801E-EB804CF65987}" destId="{4406D2A9-CD64-424B-9F3A-9ED71E3760ED}" srcOrd="5" destOrd="0" parTransId="{3B41D04F-F6EC-4F96-806D-57871D911714}" sibTransId="{C08FBC9C-1EA3-4B72-B885-0A7039B0D565}"/>
    <dgm:cxn modelId="{D37BD077-C81E-45CA-B268-2381A3479060}" type="presOf" srcId="{4C190772-3332-4160-9E31-DD1855C5FE01}" destId="{CF4B91DF-DDD9-44C2-A811-268273C97C31}" srcOrd="1" destOrd="0" presId="urn:microsoft.com/office/officeart/2005/8/layout/process5"/>
    <dgm:cxn modelId="{E0D7DD83-D24A-41A8-B466-9535927F27C1}" type="presOf" srcId="{4406D2A9-CD64-424B-9F3A-9ED71E3760ED}" destId="{C032AB18-4B6A-44E1-995B-14AD24A3C3FC}" srcOrd="0" destOrd="0" presId="urn:microsoft.com/office/officeart/2005/8/layout/process5"/>
    <dgm:cxn modelId="{1632188F-C716-47E6-9FD3-D3D1ADA8591D}" type="presOf" srcId="{BD92497D-ED5E-48E1-BDCC-53FB1D77C557}" destId="{5FFDAF06-826B-4520-8ECE-336E314E73F9}" srcOrd="1" destOrd="0" presId="urn:microsoft.com/office/officeart/2005/8/layout/process5"/>
    <dgm:cxn modelId="{211CF8BC-8C98-4355-A418-926205929A2D}" type="presOf" srcId="{C1C7E134-CB7D-4632-950C-660E622035C8}" destId="{9CC9C660-3731-4557-81A2-3CC82F73E073}" srcOrd="0" destOrd="0" presId="urn:microsoft.com/office/officeart/2005/8/layout/process5"/>
    <dgm:cxn modelId="{310B2EC5-C163-45A7-88FD-EEBEE2A2BD46}" type="presOf" srcId="{F51AF252-7BA7-4907-A692-CFBBD78AEEB2}" destId="{D7575BA6-50BF-48CB-AADA-93B1A4990AB7}" srcOrd="0" destOrd="0" presId="urn:microsoft.com/office/officeart/2005/8/layout/process5"/>
    <dgm:cxn modelId="{EDE503D7-8E7D-48A3-A984-839DC44100E4}" srcId="{68FEFB50-59E2-4C39-801E-EB804CF65987}" destId="{F51AF252-7BA7-4907-A692-CFBBD78AEEB2}" srcOrd="1" destOrd="0" parTransId="{03231499-CDCD-4914-8824-B6F0BA8FB37A}" sibTransId="{BD92497D-ED5E-48E1-BDCC-53FB1D77C557}"/>
    <dgm:cxn modelId="{517770E3-D338-42C4-95C1-CF52D5382933}" srcId="{68FEFB50-59E2-4C39-801E-EB804CF65987}" destId="{8FFCACDC-75F8-482C-86C7-CF0D38D2C1A7}" srcOrd="3" destOrd="0" parTransId="{C37B8993-8EC4-42B7-9A69-68A3E8503B90}" sibTransId="{A7870379-A1A7-4C2A-B57F-E7C8CFDC6E88}"/>
    <dgm:cxn modelId="{7B1FC5F5-3292-4700-B794-F12F228C40B9}" type="presOf" srcId="{A0FAC36A-C4E7-4971-8A30-A722D073D7C6}" destId="{5B312A83-1240-45ED-BE4E-0B71EC201073}" srcOrd="1" destOrd="0" presId="urn:microsoft.com/office/officeart/2005/8/layout/process5"/>
    <dgm:cxn modelId="{BA2EADFE-FA72-4E8D-966C-9A5B90254B3A}" type="presOf" srcId="{4C190772-3332-4160-9E31-DD1855C5FE01}" destId="{2C78E572-8E34-4783-AFB1-761889332C61}" srcOrd="0" destOrd="0" presId="urn:microsoft.com/office/officeart/2005/8/layout/process5"/>
    <dgm:cxn modelId="{E250F922-FEB9-4720-BA7C-26A20AC4E059}" type="presParOf" srcId="{EC738B8E-D74C-472A-9854-AA3865D38245}" destId="{923DDC9A-6A2E-4688-AFD3-B6E798A766E1}" srcOrd="0" destOrd="0" presId="urn:microsoft.com/office/officeart/2005/8/layout/process5"/>
    <dgm:cxn modelId="{DC36ED61-81D6-4B59-97CD-D9F16106CC9C}" type="presParOf" srcId="{EC738B8E-D74C-472A-9854-AA3865D38245}" destId="{BF2CC55B-DDE0-418F-873B-6A2CE81EC053}" srcOrd="1" destOrd="0" presId="urn:microsoft.com/office/officeart/2005/8/layout/process5"/>
    <dgm:cxn modelId="{3B4E4AB7-43CE-4169-9FC8-910F084F8DD6}" type="presParOf" srcId="{BF2CC55B-DDE0-418F-873B-6A2CE81EC053}" destId="{0A595E80-F6BD-4115-847C-B02458EB650D}" srcOrd="0" destOrd="0" presId="urn:microsoft.com/office/officeart/2005/8/layout/process5"/>
    <dgm:cxn modelId="{65DEF65F-4926-45A0-816C-EE0EFAE23FE2}" type="presParOf" srcId="{EC738B8E-D74C-472A-9854-AA3865D38245}" destId="{D7575BA6-50BF-48CB-AADA-93B1A4990AB7}" srcOrd="2" destOrd="0" presId="urn:microsoft.com/office/officeart/2005/8/layout/process5"/>
    <dgm:cxn modelId="{065BFE1A-6D63-4D43-BD68-EF9FBE57AFBC}" type="presParOf" srcId="{EC738B8E-D74C-472A-9854-AA3865D38245}" destId="{1788A08F-7363-4578-BB3B-4FC600C20946}" srcOrd="3" destOrd="0" presId="urn:microsoft.com/office/officeart/2005/8/layout/process5"/>
    <dgm:cxn modelId="{8E94CE7A-BBEF-4F2E-8518-FA3B251804AC}" type="presParOf" srcId="{1788A08F-7363-4578-BB3B-4FC600C20946}" destId="{5FFDAF06-826B-4520-8ECE-336E314E73F9}" srcOrd="0" destOrd="0" presId="urn:microsoft.com/office/officeart/2005/8/layout/process5"/>
    <dgm:cxn modelId="{22B0AB6C-F1CD-4539-BECA-4BA57FE35DEC}" type="presParOf" srcId="{EC738B8E-D74C-472A-9854-AA3865D38245}" destId="{510413F0-B7A1-4B6A-BD3B-1E5F05A23057}" srcOrd="4" destOrd="0" presId="urn:microsoft.com/office/officeart/2005/8/layout/process5"/>
    <dgm:cxn modelId="{08CC3138-1299-4A0D-8BB8-7F8BF2648574}" type="presParOf" srcId="{EC738B8E-D74C-472A-9854-AA3865D38245}" destId="{2C78E572-8E34-4783-AFB1-761889332C61}" srcOrd="5" destOrd="0" presId="urn:microsoft.com/office/officeart/2005/8/layout/process5"/>
    <dgm:cxn modelId="{8C5BDABA-DF2C-4610-919D-9C91C0B2A7A6}" type="presParOf" srcId="{2C78E572-8E34-4783-AFB1-761889332C61}" destId="{CF4B91DF-DDD9-44C2-A811-268273C97C31}" srcOrd="0" destOrd="0" presId="urn:microsoft.com/office/officeart/2005/8/layout/process5"/>
    <dgm:cxn modelId="{C080D5DC-AEDF-4DD0-A50A-34AF290D0D95}" type="presParOf" srcId="{EC738B8E-D74C-472A-9854-AA3865D38245}" destId="{10A5E9A8-AC43-41D6-8A68-695B79861C0F}" srcOrd="6" destOrd="0" presId="urn:microsoft.com/office/officeart/2005/8/layout/process5"/>
    <dgm:cxn modelId="{E2E1EF0C-2B0A-43EE-B156-585A6AFC7B2F}" type="presParOf" srcId="{EC738B8E-D74C-472A-9854-AA3865D38245}" destId="{12C82728-E0A8-42B1-AB86-F57F2BEE3B21}" srcOrd="7" destOrd="0" presId="urn:microsoft.com/office/officeart/2005/8/layout/process5"/>
    <dgm:cxn modelId="{25AFBC34-287F-47C5-8B97-1F3F86213AF5}" type="presParOf" srcId="{12C82728-E0A8-42B1-AB86-F57F2BEE3B21}" destId="{50A12BB0-9FAA-4D0C-8F4F-746CC7CA40CB}" srcOrd="0" destOrd="0" presId="urn:microsoft.com/office/officeart/2005/8/layout/process5"/>
    <dgm:cxn modelId="{A2460DB6-DED7-44D4-AC93-C2D4A91E3AD1}" type="presParOf" srcId="{EC738B8E-D74C-472A-9854-AA3865D38245}" destId="{9CC9C660-3731-4557-81A2-3CC82F73E073}" srcOrd="8" destOrd="0" presId="urn:microsoft.com/office/officeart/2005/8/layout/process5"/>
    <dgm:cxn modelId="{F8B439F3-2F3B-4A76-A50E-671EC8CD074F}" type="presParOf" srcId="{EC738B8E-D74C-472A-9854-AA3865D38245}" destId="{7BCE8D97-1A24-45E8-A4EF-ADEAB1EFE14D}" srcOrd="9" destOrd="0" presId="urn:microsoft.com/office/officeart/2005/8/layout/process5"/>
    <dgm:cxn modelId="{E29F5C73-7F3C-499A-9A65-B752E280F5D2}" type="presParOf" srcId="{7BCE8D97-1A24-45E8-A4EF-ADEAB1EFE14D}" destId="{5B312A83-1240-45ED-BE4E-0B71EC201073}" srcOrd="0" destOrd="0" presId="urn:microsoft.com/office/officeart/2005/8/layout/process5"/>
    <dgm:cxn modelId="{B1488019-7AA3-489F-B1E2-BD277A7899A0}" type="presParOf" srcId="{EC738B8E-D74C-472A-9854-AA3865D38245}" destId="{C032AB18-4B6A-44E1-995B-14AD24A3C3FC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30FBE-DC7D-41BC-B7D8-064206C753BE}">
      <dsp:nvSpPr>
        <dsp:cNvPr id="0" name=""/>
        <dsp:cNvSpPr/>
      </dsp:nvSpPr>
      <dsp:spPr>
        <a:xfrm>
          <a:off x="753" y="839651"/>
          <a:ext cx="2938305" cy="176298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+mj-lt"/>
            </a:rPr>
            <a:t>Singapore Ministry of Law reported a notable 23.6% increase in individual bankruptcy cases in 2024. </a:t>
          </a:r>
          <a:endParaRPr lang="en-US" sz="2200" kern="1200" dirty="0">
            <a:solidFill>
              <a:schemeClr val="tx1"/>
            </a:solidFill>
            <a:latin typeface="+mj-lt"/>
          </a:endParaRPr>
        </a:p>
      </dsp:txBody>
      <dsp:txXfrm>
        <a:off x="753" y="839651"/>
        <a:ext cx="2938305" cy="1762983"/>
      </dsp:txXfrm>
    </dsp:sp>
    <dsp:sp modelId="{5CB08C2A-621C-4E78-AF64-EA88902595CC}">
      <dsp:nvSpPr>
        <dsp:cNvPr id="0" name=""/>
        <dsp:cNvSpPr/>
      </dsp:nvSpPr>
      <dsp:spPr>
        <a:xfrm>
          <a:off x="3232889" y="839651"/>
          <a:ext cx="2938305" cy="176298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chemeClr val="tx1"/>
              </a:solidFill>
              <a:latin typeface="+mj-lt"/>
            </a:rPr>
            <a:t>American owed approx. $251 billion personal loan debt by Q4 2024</a:t>
          </a:r>
          <a:r>
            <a:rPr lang="en-US" sz="2200" kern="1200">
              <a:solidFill>
                <a:schemeClr val="tx1"/>
              </a:solidFill>
              <a:latin typeface="+mj-lt"/>
            </a:rPr>
            <a:t>.</a:t>
          </a:r>
        </a:p>
      </dsp:txBody>
      <dsp:txXfrm>
        <a:off x="3232889" y="839651"/>
        <a:ext cx="2938305" cy="1762983"/>
      </dsp:txXfrm>
    </dsp:sp>
    <dsp:sp modelId="{42790AFC-F23C-4A87-B02F-2DD52D328BED}">
      <dsp:nvSpPr>
        <dsp:cNvPr id="0" name=""/>
        <dsp:cNvSpPr/>
      </dsp:nvSpPr>
      <dsp:spPr>
        <a:xfrm>
          <a:off x="753" y="2896465"/>
          <a:ext cx="2938305" cy="176298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+mj-lt"/>
            </a:rPr>
            <a:t>Bank / Financial Institution may face the risk of loan default. </a:t>
          </a:r>
          <a:endParaRPr lang="en-US" sz="2200" kern="1200" dirty="0">
            <a:solidFill>
              <a:schemeClr val="tx1"/>
            </a:solidFill>
            <a:latin typeface="+mj-lt"/>
          </a:endParaRPr>
        </a:p>
      </dsp:txBody>
      <dsp:txXfrm>
        <a:off x="753" y="2896465"/>
        <a:ext cx="2938305" cy="1762983"/>
      </dsp:txXfrm>
    </dsp:sp>
    <dsp:sp modelId="{1B62874C-CED6-4A81-9B68-A327A94CFF4C}">
      <dsp:nvSpPr>
        <dsp:cNvPr id="0" name=""/>
        <dsp:cNvSpPr/>
      </dsp:nvSpPr>
      <dsp:spPr>
        <a:xfrm>
          <a:off x="3232889" y="2896465"/>
          <a:ext cx="2938305" cy="176298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+mj-lt"/>
            </a:rPr>
            <a:t>A model has been built to minimize the loss due to loan default.</a:t>
          </a:r>
          <a:endParaRPr lang="en-US" sz="2200" kern="1200" dirty="0">
            <a:solidFill>
              <a:schemeClr val="tx1"/>
            </a:solidFill>
            <a:latin typeface="+mj-lt"/>
          </a:endParaRPr>
        </a:p>
      </dsp:txBody>
      <dsp:txXfrm>
        <a:off x="3232889" y="2896465"/>
        <a:ext cx="2938305" cy="17629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3930A-70A5-4980-9C9C-DCA1158D5340}">
      <dsp:nvSpPr>
        <dsp:cNvPr id="0" name=""/>
        <dsp:cNvSpPr/>
      </dsp:nvSpPr>
      <dsp:spPr>
        <a:xfrm>
          <a:off x="850768" y="95"/>
          <a:ext cx="1959114" cy="782324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+mj-lt"/>
            </a:rPr>
            <a:t>Lower financial discipline</a:t>
          </a:r>
          <a:endParaRPr lang="en-SG" sz="1600" kern="1200" dirty="0">
            <a:solidFill>
              <a:schemeClr val="tx1"/>
            </a:solidFill>
            <a:latin typeface="+mj-lt"/>
          </a:endParaRPr>
        </a:p>
      </dsp:txBody>
      <dsp:txXfrm>
        <a:off x="888958" y="38285"/>
        <a:ext cx="1882734" cy="7059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3930A-70A5-4980-9C9C-DCA1158D5340}">
      <dsp:nvSpPr>
        <dsp:cNvPr id="0" name=""/>
        <dsp:cNvSpPr/>
      </dsp:nvSpPr>
      <dsp:spPr>
        <a:xfrm>
          <a:off x="850768" y="161"/>
          <a:ext cx="1959114" cy="705796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+mj-lt"/>
            </a:rPr>
            <a:t>Unstable Income</a:t>
          </a:r>
          <a:endParaRPr lang="en-SG" sz="1600" kern="1200" dirty="0">
            <a:solidFill>
              <a:schemeClr val="tx1"/>
            </a:solidFill>
            <a:latin typeface="+mj-lt"/>
          </a:endParaRPr>
        </a:p>
      </dsp:txBody>
      <dsp:txXfrm>
        <a:off x="885222" y="34615"/>
        <a:ext cx="1890206" cy="636888"/>
      </dsp:txXfrm>
    </dsp:sp>
    <dsp:sp modelId="{1F7223F0-E090-4177-BFC0-DDF5B74A5608}">
      <dsp:nvSpPr>
        <dsp:cNvPr id="0" name=""/>
        <dsp:cNvSpPr/>
      </dsp:nvSpPr>
      <dsp:spPr>
        <a:xfrm>
          <a:off x="850768" y="707722"/>
          <a:ext cx="1317834" cy="35289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600" kern="1200" dirty="0">
            <a:solidFill>
              <a:schemeClr val="tx1"/>
            </a:solidFill>
            <a:latin typeface="+mj-lt"/>
          </a:endParaRPr>
        </a:p>
      </dsp:txBody>
      <dsp:txXfrm>
        <a:off x="852491" y="709445"/>
        <a:ext cx="1314388" cy="31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DDC9A-6A2E-4688-AFD3-B6E798A766E1}">
      <dsp:nvSpPr>
        <dsp:cNvPr id="0" name=""/>
        <dsp:cNvSpPr/>
      </dsp:nvSpPr>
      <dsp:spPr>
        <a:xfrm>
          <a:off x="6939" y="347133"/>
          <a:ext cx="2074182" cy="12445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>
              <a:latin typeface="+mj-lt"/>
            </a:rPr>
            <a:t>Bank Officer enters customer data into the model</a:t>
          </a:r>
        </a:p>
      </dsp:txBody>
      <dsp:txXfrm>
        <a:off x="43389" y="383583"/>
        <a:ext cx="2001282" cy="1171609"/>
      </dsp:txXfrm>
    </dsp:sp>
    <dsp:sp modelId="{BF2CC55B-DDE0-418F-873B-6A2CE81EC053}">
      <dsp:nvSpPr>
        <dsp:cNvPr id="0" name=""/>
        <dsp:cNvSpPr/>
      </dsp:nvSpPr>
      <dsp:spPr>
        <a:xfrm>
          <a:off x="2263649" y="712189"/>
          <a:ext cx="439726" cy="5143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000" kern="1200">
            <a:latin typeface="+mj-lt"/>
          </a:endParaRPr>
        </a:p>
      </dsp:txBody>
      <dsp:txXfrm>
        <a:off x="2263649" y="815068"/>
        <a:ext cx="307808" cy="308639"/>
      </dsp:txXfrm>
    </dsp:sp>
    <dsp:sp modelId="{D7575BA6-50BF-48CB-AADA-93B1A4990AB7}">
      <dsp:nvSpPr>
        <dsp:cNvPr id="0" name=""/>
        <dsp:cNvSpPr/>
      </dsp:nvSpPr>
      <dsp:spPr>
        <a:xfrm>
          <a:off x="2910794" y="347133"/>
          <a:ext cx="2074182" cy="1244509"/>
        </a:xfrm>
        <a:prstGeom prst="roundRect">
          <a:avLst>
            <a:gd name="adj" fmla="val 10000"/>
          </a:avLst>
        </a:prstGeom>
        <a:solidFill>
          <a:schemeClr val="accent2">
            <a:hueOff val="-81443"/>
            <a:satOff val="-698"/>
            <a:lumOff val="-4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>
              <a:latin typeface="+mj-lt"/>
            </a:rPr>
            <a:t>Run the model</a:t>
          </a:r>
        </a:p>
      </dsp:txBody>
      <dsp:txXfrm>
        <a:off x="2947244" y="383583"/>
        <a:ext cx="2001282" cy="1171609"/>
      </dsp:txXfrm>
    </dsp:sp>
    <dsp:sp modelId="{1788A08F-7363-4578-BB3B-4FC600C20946}">
      <dsp:nvSpPr>
        <dsp:cNvPr id="0" name=""/>
        <dsp:cNvSpPr/>
      </dsp:nvSpPr>
      <dsp:spPr>
        <a:xfrm>
          <a:off x="5167504" y="712189"/>
          <a:ext cx="439726" cy="5143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000" kern="1200">
            <a:latin typeface="+mj-lt"/>
          </a:endParaRPr>
        </a:p>
      </dsp:txBody>
      <dsp:txXfrm>
        <a:off x="5167504" y="815068"/>
        <a:ext cx="307808" cy="308639"/>
      </dsp:txXfrm>
    </dsp:sp>
    <dsp:sp modelId="{510413F0-B7A1-4B6A-BD3B-1E5F05A23057}">
      <dsp:nvSpPr>
        <dsp:cNvPr id="0" name=""/>
        <dsp:cNvSpPr/>
      </dsp:nvSpPr>
      <dsp:spPr>
        <a:xfrm>
          <a:off x="5814649" y="347133"/>
          <a:ext cx="2074182" cy="1244509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SG" sz="2000" kern="1200" dirty="0">
              <a:latin typeface="+mj-lt"/>
            </a:rPr>
            <a:t>If result = TRUE,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>
              <a:latin typeface="+mj-lt"/>
            </a:rPr>
            <a:t>possibility of default is detected </a:t>
          </a:r>
        </a:p>
      </dsp:txBody>
      <dsp:txXfrm>
        <a:off x="5851099" y="383583"/>
        <a:ext cx="2001282" cy="1171609"/>
      </dsp:txXfrm>
    </dsp:sp>
    <dsp:sp modelId="{2C78E572-8E34-4783-AFB1-761889332C61}">
      <dsp:nvSpPr>
        <dsp:cNvPr id="0" name=""/>
        <dsp:cNvSpPr/>
      </dsp:nvSpPr>
      <dsp:spPr>
        <a:xfrm rot="5400000">
          <a:off x="3632640" y="1757942"/>
          <a:ext cx="486587" cy="5143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000" kern="1200">
            <a:latin typeface="+mj-lt"/>
          </a:endParaRPr>
        </a:p>
      </dsp:txBody>
      <dsp:txXfrm rot="-5400000">
        <a:off x="3721614" y="1771847"/>
        <a:ext cx="308639" cy="340611"/>
      </dsp:txXfrm>
    </dsp:sp>
    <dsp:sp modelId="{10A5E9A8-AC43-41D6-8A68-695B79861C0F}">
      <dsp:nvSpPr>
        <dsp:cNvPr id="0" name=""/>
        <dsp:cNvSpPr/>
      </dsp:nvSpPr>
      <dsp:spPr>
        <a:xfrm>
          <a:off x="5814649" y="2509731"/>
          <a:ext cx="2074182" cy="124450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>
              <a:latin typeface="+mj-lt"/>
            </a:rPr>
            <a:t>Reject application</a:t>
          </a:r>
        </a:p>
      </dsp:txBody>
      <dsp:txXfrm>
        <a:off x="5851099" y="2546181"/>
        <a:ext cx="2001282" cy="1171609"/>
      </dsp:txXfrm>
    </dsp:sp>
    <dsp:sp modelId="{12C82728-E0A8-42B1-AB86-F57F2BEE3B21}">
      <dsp:nvSpPr>
        <dsp:cNvPr id="0" name=""/>
        <dsp:cNvSpPr/>
      </dsp:nvSpPr>
      <dsp:spPr>
        <a:xfrm rot="5400000">
          <a:off x="6661965" y="1731791"/>
          <a:ext cx="439726" cy="5143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000" kern="1200" dirty="0">
            <a:latin typeface="+mj-lt"/>
          </a:endParaRPr>
        </a:p>
      </dsp:txBody>
      <dsp:txXfrm rot="10800000">
        <a:off x="6727924" y="1768711"/>
        <a:ext cx="307808" cy="308639"/>
      </dsp:txXfrm>
    </dsp:sp>
    <dsp:sp modelId="{9CC9C660-3731-4557-81A2-3CC82F73E073}">
      <dsp:nvSpPr>
        <dsp:cNvPr id="0" name=""/>
        <dsp:cNvSpPr/>
      </dsp:nvSpPr>
      <dsp:spPr>
        <a:xfrm>
          <a:off x="2910794" y="2421315"/>
          <a:ext cx="2074182" cy="1421341"/>
        </a:xfrm>
        <a:prstGeom prst="roundRect">
          <a:avLst>
            <a:gd name="adj" fmla="val 10000"/>
          </a:avLst>
        </a:prstGeom>
        <a:solidFill>
          <a:srgbClr val="39A90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>
              <a:latin typeface="+mj-lt"/>
            </a:rPr>
            <a:t>If result = FALSE, possibility of default is not detected</a:t>
          </a:r>
        </a:p>
      </dsp:txBody>
      <dsp:txXfrm>
        <a:off x="2952424" y="2462945"/>
        <a:ext cx="1990922" cy="1338081"/>
      </dsp:txXfrm>
    </dsp:sp>
    <dsp:sp modelId="{7BCE8D97-1A24-45E8-A4EF-ADEAB1EFE14D}">
      <dsp:nvSpPr>
        <dsp:cNvPr id="0" name=""/>
        <dsp:cNvSpPr/>
      </dsp:nvSpPr>
      <dsp:spPr>
        <a:xfrm rot="10800000">
          <a:off x="2288539" y="2874787"/>
          <a:ext cx="439726" cy="514397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100" kern="1200">
            <a:latin typeface="+mj-lt"/>
          </a:endParaRPr>
        </a:p>
      </dsp:txBody>
      <dsp:txXfrm rot="10800000">
        <a:off x="2420457" y="2977666"/>
        <a:ext cx="307808" cy="308639"/>
      </dsp:txXfrm>
    </dsp:sp>
    <dsp:sp modelId="{C032AB18-4B6A-44E1-995B-14AD24A3C3FC}">
      <dsp:nvSpPr>
        <dsp:cNvPr id="0" name=""/>
        <dsp:cNvSpPr/>
      </dsp:nvSpPr>
      <dsp:spPr>
        <a:xfrm>
          <a:off x="6939" y="2509731"/>
          <a:ext cx="2074182" cy="1244509"/>
        </a:xfrm>
        <a:prstGeom prst="roundRect">
          <a:avLst>
            <a:gd name="adj" fmla="val 10000"/>
          </a:avLst>
        </a:prstGeom>
        <a:solidFill>
          <a:srgbClr val="00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>
              <a:latin typeface="+mj-lt"/>
            </a:rPr>
            <a:t>Approve Application /Proceed further</a:t>
          </a:r>
        </a:p>
      </dsp:txBody>
      <dsp:txXfrm>
        <a:off x="43389" y="2546181"/>
        <a:ext cx="2001282" cy="1171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E3122-C8D6-41E7-AEAA-BB8540CE2C38}" type="datetimeFigureOut">
              <a:rPr lang="en-MY" smtClean="0"/>
              <a:t>10/6/2025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886EF-F531-4DBF-B0B4-4E5DB3DF58A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1437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 installment, financial difficulty experienced within 1 year installments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Company reject potential customer, loss of business. 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886EF-F531-4DBF-B0B4-4E5DB3DF58A2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734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6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4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2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2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8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9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7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4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2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2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1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15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4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1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image" Target="../media/image20.sv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ikhil1e9/loan-defaul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ite calculator">
            <a:extLst>
              <a:ext uri="{FF2B5EF4-FFF2-40B4-BE49-F238E27FC236}">
                <a16:creationId xmlns:a16="http://schemas.microsoft.com/office/drawing/2014/main" id="{AAD907C0-4517-9C51-A520-715D095DEC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duotone>
              <a:prstClr val="black"/>
              <a:srgbClr val="CCFF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b="15730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C1FE17-222F-1D0D-E33C-457817146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343" y="990599"/>
            <a:ext cx="6723252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PERSONAL Loan default prediction</a:t>
            </a:r>
            <a:b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>
                <a:solidFill>
                  <a:schemeClr val="accent5">
                    <a:lumMod val="40000"/>
                    <a:lumOff val="60000"/>
                  </a:schemeClr>
                </a:solidFill>
                <a:cs typeface="Cavolini" panose="03000502040302020204" pitchFamily="66" charset="0"/>
              </a:rPr>
              <a:t>by Dewiana</a:t>
            </a:r>
            <a:br>
              <a:rPr lang="en-US" sz="2400">
                <a:solidFill>
                  <a:schemeClr val="accent5">
                    <a:lumMod val="40000"/>
                    <a:lumOff val="60000"/>
                  </a:schemeClr>
                </a:solidFill>
                <a:cs typeface="Cavolini" panose="03000502040302020204" pitchFamily="66" charset="0"/>
              </a:rPr>
            </a:br>
            <a:r>
              <a:rPr lang="en-US" sz="2400">
                <a:solidFill>
                  <a:schemeClr val="accent5">
                    <a:lumMod val="40000"/>
                    <a:lumOff val="60000"/>
                  </a:schemeClr>
                </a:solidFill>
                <a:cs typeface="Cavolini" panose="03000502040302020204" pitchFamily="66" charset="0"/>
              </a:rPr>
              <a:t>11 Jun 2025</a:t>
            </a:r>
            <a:endParaRPr lang="en-MY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091FF-8C82-37C7-7BDB-70E89EC67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520" y="1447799"/>
            <a:ext cx="3026219" cy="4076699"/>
          </a:xfrm>
        </p:spPr>
        <p:txBody>
          <a:bodyPr anchor="ctr">
            <a:normAutofit/>
          </a:bodyPr>
          <a:lstStyle/>
          <a:p>
            <a:r>
              <a:rPr lang="en-US" sz="2500" i="1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rPr>
              <a:t>Minimizing risk through early assessment of customer profiles</a:t>
            </a:r>
            <a:endParaRPr lang="en-MY" sz="2500" i="1" dirty="0">
              <a:solidFill>
                <a:schemeClr val="accent5">
                  <a:lumMod val="40000"/>
                  <a:lumOff val="60000"/>
                </a:schemeClr>
              </a:solidFill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317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3823-F030-83E3-34DE-06E2C28F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612" y="943897"/>
            <a:ext cx="3914776" cy="397726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cs typeface="Arial" panose="020B0604020202020204" pitchFamily="34" charset="0"/>
              </a:rPr>
              <a:t>INTRODUCTION</a:t>
            </a:r>
            <a:endParaRPr lang="en-MY" sz="3600"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C1D23E-8B0B-D403-C1C3-CC6DABCF7C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8737214"/>
              </p:ext>
            </p:extLst>
          </p:nvPr>
        </p:nvGraphicFramePr>
        <p:xfrm>
          <a:off x="3010026" y="1122926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4518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DDA0-5CBD-E8D7-E5D5-ACA5DA957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4288092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70E3A-88BB-9447-2CFD-1EA261683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135" y="1390650"/>
            <a:ext cx="5402473" cy="40767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j-lt"/>
              </a:rPr>
              <a:t>Can banks identify personal loan default risk at customer onboarding?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8CBA3F-3D44-2E9B-656B-81E4530BBC5B}"/>
              </a:ext>
            </a:extLst>
          </p:cNvPr>
          <p:cNvCxnSpPr/>
          <p:nvPr/>
        </p:nvCxnSpPr>
        <p:spPr>
          <a:xfrm>
            <a:off x="5324168" y="1666568"/>
            <a:ext cx="0" cy="34216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54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0AE82-97DE-9726-C4BA-FEC0F093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C30679-5DB4-7EA2-0CA2-84BD78A4790D}"/>
              </a:ext>
            </a:extLst>
          </p:cNvPr>
          <p:cNvSpPr txBox="1"/>
          <p:nvPr/>
        </p:nvSpPr>
        <p:spPr>
          <a:xfrm>
            <a:off x="1343142" y="3294331"/>
            <a:ext cx="3684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b="1" u="sng" dirty="0">
                <a:latin typeface="+mj-lt"/>
              </a:rPr>
              <a:t>Current Business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BEFCC-8AFC-8C7D-F51E-F85836235FD0}"/>
              </a:ext>
            </a:extLst>
          </p:cNvPr>
          <p:cNvSpPr txBox="1"/>
          <p:nvPr/>
        </p:nvSpPr>
        <p:spPr>
          <a:xfrm>
            <a:off x="5117691" y="2063225"/>
            <a:ext cx="62742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Several customers have defaulted after settling only 30-40% of loan installment during the loan tenure.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In some cases, customers have declared bankruptcy.</a:t>
            </a:r>
            <a:br>
              <a:rPr lang="en-US" sz="2400" dirty="0">
                <a:latin typeface="+mj-lt"/>
              </a:rPr>
            </a:b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Currently, there is no model in place to evaluate default risk at onboarding.</a:t>
            </a:r>
            <a:br>
              <a:rPr lang="en-US" sz="2400" dirty="0">
                <a:latin typeface="+mj-lt"/>
              </a:rPr>
            </a:br>
            <a:endParaRPr lang="en-US" sz="2400" dirty="0"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82B7B9-60B8-1FC3-8D9C-E75028D57544}"/>
              </a:ext>
            </a:extLst>
          </p:cNvPr>
          <p:cNvSpPr txBox="1">
            <a:spLocks/>
          </p:cNvSpPr>
          <p:nvPr/>
        </p:nvSpPr>
        <p:spPr>
          <a:xfrm>
            <a:off x="2012115" y="870556"/>
            <a:ext cx="8167769" cy="61678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>
                <a:cs typeface="Arial" panose="020B0604020202020204" pitchFamily="34" charset="0"/>
              </a:rPr>
              <a:t>Context</a:t>
            </a:r>
            <a:endParaRPr lang="en-MY" sz="3800" dirty="0">
              <a:cs typeface="Arial" panose="020B0604020202020204" pitchFamily="34" charset="0"/>
            </a:endParaRPr>
          </a:p>
        </p:txBody>
      </p:sp>
      <p:pic>
        <p:nvPicPr>
          <p:cNvPr id="14" name="Graphic 13" descr="Flying Money outline">
            <a:extLst>
              <a:ext uri="{FF2B5EF4-FFF2-40B4-BE49-F238E27FC236}">
                <a16:creationId xmlns:a16="http://schemas.microsoft.com/office/drawing/2014/main" id="{F2578439-0837-5B1A-A3E5-9DD2580DB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0671" y="2327260"/>
            <a:ext cx="769788" cy="76978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264F0B0-A5F3-DEC0-82F6-6DFE7A4587D3}"/>
              </a:ext>
            </a:extLst>
          </p:cNvPr>
          <p:cNvCxnSpPr/>
          <p:nvPr/>
        </p:nvCxnSpPr>
        <p:spPr>
          <a:xfrm>
            <a:off x="4837471" y="1998407"/>
            <a:ext cx="0" cy="34216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21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596E30-74E8-D70C-E0BA-0C7CE3B208BD}"/>
              </a:ext>
            </a:extLst>
          </p:cNvPr>
          <p:cNvSpPr txBox="1"/>
          <p:nvPr/>
        </p:nvSpPr>
        <p:spPr>
          <a:xfrm>
            <a:off x="6508403" y="3386171"/>
            <a:ext cx="5119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b="1" u="sng" dirty="0">
                <a:latin typeface="+mj-lt"/>
              </a:rPr>
              <a:t>Defining Success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D09B2-4421-1A02-8144-2A34D06E9F10}"/>
              </a:ext>
            </a:extLst>
          </p:cNvPr>
          <p:cNvSpPr txBox="1"/>
          <p:nvPr/>
        </p:nvSpPr>
        <p:spPr>
          <a:xfrm>
            <a:off x="1450257" y="2016565"/>
            <a:ext cx="56879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Input:</a:t>
            </a:r>
            <a:r>
              <a:rPr lang="en-US" sz="2400" dirty="0">
                <a:latin typeface="+mj-lt"/>
              </a:rPr>
              <a:t> Loan officer enters customer profile into model </a:t>
            </a:r>
            <a:r>
              <a:rPr lang="en-US" sz="24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400" b="1" dirty="0">
                <a:latin typeface="+mj-lt"/>
              </a:rPr>
              <a:t>Model Output: </a:t>
            </a:r>
            <a:r>
              <a:rPr lang="en-US" sz="2400" dirty="0">
                <a:latin typeface="+mj-lt"/>
              </a:rPr>
              <a:t>Probability of loan default (Default / No Default)</a:t>
            </a:r>
            <a:br>
              <a:rPr lang="en-US" sz="2400" dirty="0">
                <a:latin typeface="+mj-lt"/>
              </a:rPr>
            </a:b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Success Metrics: </a:t>
            </a:r>
            <a:br>
              <a:rPr lang="en-US" sz="2400" b="1" dirty="0">
                <a:latin typeface="+mj-lt"/>
              </a:rPr>
            </a:br>
            <a:r>
              <a:rPr lang="en-US" sz="2400" dirty="0">
                <a:latin typeface="+mj-lt"/>
              </a:rPr>
              <a:t>Fewer defaulting customers onboarded, 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Higher rate of fully settled loans</a:t>
            </a:r>
            <a:br>
              <a:rPr lang="en-US" sz="2400" dirty="0">
                <a:latin typeface="+mj-lt"/>
              </a:rPr>
            </a:br>
            <a:endParaRPr lang="en-SG" sz="2400" dirty="0"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56512B2-F2AD-5D72-172F-B363B027D3BB}"/>
              </a:ext>
            </a:extLst>
          </p:cNvPr>
          <p:cNvSpPr txBox="1">
            <a:spLocks/>
          </p:cNvSpPr>
          <p:nvPr/>
        </p:nvSpPr>
        <p:spPr>
          <a:xfrm>
            <a:off x="2012115" y="870556"/>
            <a:ext cx="8167769" cy="61678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>
                <a:cs typeface="Arial" panose="020B0604020202020204" pitchFamily="34" charset="0"/>
              </a:rPr>
              <a:t>Context</a:t>
            </a:r>
            <a:endParaRPr lang="en-MY" sz="3800" dirty="0">
              <a:cs typeface="Arial" panose="020B0604020202020204" pitchFamily="34" charset="0"/>
            </a:endParaRPr>
          </a:p>
        </p:txBody>
      </p:sp>
      <p:pic>
        <p:nvPicPr>
          <p:cNvPr id="16" name="Graphic 15" descr="Excellent outline">
            <a:extLst>
              <a:ext uri="{FF2B5EF4-FFF2-40B4-BE49-F238E27FC236}">
                <a16:creationId xmlns:a16="http://schemas.microsoft.com/office/drawing/2014/main" id="{CDD31B72-BE4F-9F5D-913B-58A9E8B5E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394" y="2616383"/>
            <a:ext cx="769788" cy="76978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FE69EE-3CE4-A146-372A-FBEEA520E359}"/>
              </a:ext>
            </a:extLst>
          </p:cNvPr>
          <p:cNvCxnSpPr/>
          <p:nvPr/>
        </p:nvCxnSpPr>
        <p:spPr>
          <a:xfrm>
            <a:off x="7241458" y="2016565"/>
            <a:ext cx="0" cy="34216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10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258D98-9929-7E1B-5889-962D50A00200}"/>
              </a:ext>
            </a:extLst>
          </p:cNvPr>
          <p:cNvSpPr txBox="1"/>
          <p:nvPr/>
        </p:nvSpPr>
        <p:spPr>
          <a:xfrm>
            <a:off x="2385584" y="2133549"/>
            <a:ext cx="7420832" cy="2936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latin typeface="+mj-lt"/>
              </a:rPr>
              <a:t>What</a:t>
            </a:r>
            <a:r>
              <a:rPr lang="en-US" sz="2400" dirty="0">
                <a:latin typeface="+mj-lt"/>
              </a:rPr>
              <a:t>: Onboard customers with minimum default risk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+mj-lt"/>
              </a:rPr>
              <a:t>Why</a:t>
            </a:r>
            <a:r>
              <a:rPr lang="en-US" sz="2400" dirty="0">
                <a:latin typeface="+mj-lt"/>
              </a:rPr>
              <a:t>: Reduce the risk of loss to banks/financial institutions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+mj-lt"/>
              </a:rPr>
              <a:t>Who</a:t>
            </a:r>
            <a:r>
              <a:rPr lang="en-US" sz="2400" dirty="0">
                <a:latin typeface="+mj-lt"/>
              </a:rPr>
              <a:t>: Banks/financial institutions – especially loan department offering personal loan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A54F6-1E65-378B-A174-FD85FA41CCC3}"/>
              </a:ext>
            </a:extLst>
          </p:cNvPr>
          <p:cNvSpPr txBox="1">
            <a:spLocks/>
          </p:cNvSpPr>
          <p:nvPr/>
        </p:nvSpPr>
        <p:spPr>
          <a:xfrm>
            <a:off x="2012115" y="870556"/>
            <a:ext cx="8167769" cy="61678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>
                <a:cs typeface="Arial" panose="020B0604020202020204" pitchFamily="34" charset="0"/>
              </a:rPr>
              <a:t>OBJECTIVES</a:t>
            </a:r>
            <a:endParaRPr lang="en-MY" sz="3800" dirty="0">
              <a:cs typeface="Arial" panose="020B0604020202020204" pitchFamily="34" charset="0"/>
            </a:endParaRPr>
          </a:p>
        </p:txBody>
      </p:sp>
      <p:pic>
        <p:nvPicPr>
          <p:cNvPr id="16" name="Graphic 15" descr="Loan outline">
            <a:extLst>
              <a:ext uri="{FF2B5EF4-FFF2-40B4-BE49-F238E27FC236}">
                <a16:creationId xmlns:a16="http://schemas.microsoft.com/office/drawing/2014/main" id="{7779210F-2C44-3469-941E-C49C8D873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9871" y="1498185"/>
            <a:ext cx="698428" cy="6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1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C9A8-EF27-12C0-ECB4-ABF69A1E72C6}"/>
              </a:ext>
            </a:extLst>
          </p:cNvPr>
          <p:cNvSpPr txBox="1">
            <a:spLocks/>
          </p:cNvSpPr>
          <p:nvPr/>
        </p:nvSpPr>
        <p:spPr>
          <a:xfrm>
            <a:off x="2012115" y="870556"/>
            <a:ext cx="8167769" cy="61678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>
                <a:cs typeface="Arial" panose="020B0604020202020204" pitchFamily="34" charset="0"/>
              </a:rPr>
              <a:t>Data limitations</a:t>
            </a:r>
            <a:endParaRPr lang="en-MY" sz="3800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43C66-3EAD-C1C6-7636-51A0062468D2}"/>
              </a:ext>
            </a:extLst>
          </p:cNvPr>
          <p:cNvSpPr txBox="1"/>
          <p:nvPr/>
        </p:nvSpPr>
        <p:spPr>
          <a:xfrm>
            <a:off x="2545232" y="2518846"/>
            <a:ext cx="7101533" cy="1459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No time features (e.g. loan start date or default date)</a:t>
            </a:r>
          </a:p>
          <a:p>
            <a:pPr marL="342900" indent="-342900" algn="ctr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Co-signer treated as non-joint borrower</a:t>
            </a:r>
            <a:endParaRPr lang="en-SG" sz="2400" dirty="0">
              <a:latin typeface="+mj-lt"/>
            </a:endParaRPr>
          </a:p>
        </p:txBody>
      </p:sp>
      <p:pic>
        <p:nvPicPr>
          <p:cNvPr id="19" name="Graphic 18" descr="Warning outline">
            <a:extLst>
              <a:ext uri="{FF2B5EF4-FFF2-40B4-BE49-F238E27FC236}">
                <a16:creationId xmlns:a16="http://schemas.microsoft.com/office/drawing/2014/main" id="{BAA97668-6123-090E-9F6C-DA0EFD4C0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6784" y="1653881"/>
            <a:ext cx="698428" cy="6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7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C28D-1359-C917-30A7-C3D251A2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74914"/>
          </a:xfrm>
        </p:spPr>
        <p:txBody>
          <a:bodyPr>
            <a:normAutofit/>
          </a:bodyPr>
          <a:lstStyle/>
          <a:p>
            <a:pPr algn="ctr"/>
            <a:r>
              <a:rPr lang="en-SG" sz="3400" dirty="0"/>
              <a:t>Data cleaning and preparation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44CF3F-F932-3840-1F44-EF0D1149F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589523"/>
              </p:ext>
            </p:extLst>
          </p:nvPr>
        </p:nvGraphicFramePr>
        <p:xfrm>
          <a:off x="1589848" y="1907861"/>
          <a:ext cx="901230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904">
                  <a:extLst>
                    <a:ext uri="{9D8B030D-6E8A-4147-A177-3AD203B41FA5}">
                      <a16:colId xmlns:a16="http://schemas.microsoft.com/office/drawing/2014/main" val="2721621926"/>
                    </a:ext>
                  </a:extLst>
                </a:gridCol>
                <a:gridCol w="3625477">
                  <a:extLst>
                    <a:ext uri="{9D8B030D-6E8A-4147-A177-3AD203B41FA5}">
                      <a16:colId xmlns:a16="http://schemas.microsoft.com/office/drawing/2014/main" val="2475577202"/>
                    </a:ext>
                  </a:extLst>
                </a:gridCol>
                <a:gridCol w="4527923">
                  <a:extLst>
                    <a:ext uri="{9D8B030D-6E8A-4147-A177-3AD203B41FA5}">
                      <a16:colId xmlns:a16="http://schemas.microsoft.com/office/drawing/2014/main" val="757355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Further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84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Remove Duplicates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60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Handle Nulls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70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Dropped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 err="1">
                          <a:latin typeface="+mj-lt"/>
                        </a:rPr>
                        <a:t>HasCoSigner</a:t>
                      </a:r>
                      <a:r>
                        <a:rPr lang="en-SG" sz="2000" dirty="0">
                          <a:latin typeface="+mj-lt"/>
                        </a:rPr>
                        <a:t> (co-signer not joint borrower)*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84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2000" dirty="0">
                          <a:latin typeface="+mj-lt"/>
                        </a:rPr>
                        <a:t>Conversion of 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+mj-lt"/>
                        </a:rPr>
                        <a:t>Converted DEFAULT from binary to </a:t>
                      </a:r>
                      <a:r>
                        <a:rPr lang="en-US" sz="2000" dirty="0" err="1">
                          <a:latin typeface="+mj-lt"/>
                        </a:rPr>
                        <a:t>boolean</a:t>
                      </a:r>
                      <a:endParaRPr lang="en-SG" sz="2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7730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2419F5-5A42-3C40-02D8-50780B138610}"/>
              </a:ext>
            </a:extLst>
          </p:cNvPr>
          <p:cNvSpPr txBox="1"/>
          <p:nvPr/>
        </p:nvSpPr>
        <p:spPr>
          <a:xfrm>
            <a:off x="1491343" y="5297269"/>
            <a:ext cx="62919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500" i="1" dirty="0">
                <a:latin typeface="+mj-lt"/>
              </a:rPr>
              <a:t>*</a:t>
            </a:r>
            <a:r>
              <a:rPr lang="en-US" sz="1500" i="1" dirty="0">
                <a:latin typeface="+mj-lt"/>
              </a:rPr>
              <a:t>Cosigner: not considered as main borrower. The person’s creditworthiness is not taken into consideration in the process of onboarding.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8DE91F-092F-1DE0-7B92-E57F8A4D5E72}"/>
              </a:ext>
            </a:extLst>
          </p:cNvPr>
          <p:cNvSpPr txBox="1"/>
          <p:nvPr/>
        </p:nvSpPr>
        <p:spPr>
          <a:xfrm>
            <a:off x="1589848" y="4512409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Total Rows= 255347</a:t>
            </a:r>
          </a:p>
          <a:p>
            <a:r>
              <a:rPr lang="en-US">
                <a:latin typeface="+mj-lt"/>
              </a:rPr>
              <a:t>Total Columns= 18</a:t>
            </a:r>
            <a:endParaRPr lang="en-MY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657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8285418-DC90-3E68-8634-27FE31A43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626" t="2843"/>
          <a:stretch/>
        </p:blipFill>
        <p:spPr>
          <a:xfrm>
            <a:off x="3392128" y="2197510"/>
            <a:ext cx="7123471" cy="3821961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F68A72F-5518-8C06-583F-80EFE959A3D0}"/>
              </a:ext>
            </a:extLst>
          </p:cNvPr>
          <p:cNvSpPr txBox="1">
            <a:spLocks/>
          </p:cNvSpPr>
          <p:nvPr/>
        </p:nvSpPr>
        <p:spPr>
          <a:xfrm>
            <a:off x="700635" y="914400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EDA -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47626-AEDD-0485-857A-1FCDA399811C}"/>
              </a:ext>
            </a:extLst>
          </p:cNvPr>
          <p:cNvSpPr txBox="1"/>
          <p:nvPr/>
        </p:nvSpPr>
        <p:spPr>
          <a:xfrm>
            <a:off x="1213757" y="1553365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Younger borrowers have higher default risk</a:t>
            </a:r>
            <a:endParaRPr lang="en-SG" sz="2000" i="1" dirty="0"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139C6E-F4C4-BE1A-719A-59FF69518FAB}"/>
              </a:ext>
            </a:extLst>
          </p:cNvPr>
          <p:cNvCxnSpPr>
            <a:cxnSpLocks/>
          </p:cNvCxnSpPr>
          <p:nvPr/>
        </p:nvCxnSpPr>
        <p:spPr>
          <a:xfrm>
            <a:off x="4390520" y="2592440"/>
            <a:ext cx="6078090" cy="2231225"/>
          </a:xfrm>
          <a:prstGeom prst="straightConnector1">
            <a:avLst/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8E3481-0388-152C-2614-4BDFBB86C0F4}"/>
              </a:ext>
            </a:extLst>
          </p:cNvPr>
          <p:cNvSpPr txBox="1"/>
          <p:nvPr/>
        </p:nvSpPr>
        <p:spPr>
          <a:xfrm>
            <a:off x="-369831" y="2635093"/>
            <a:ext cx="464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u="sng" dirty="0">
                <a:latin typeface="+mj-lt"/>
              </a:rPr>
              <a:t>Potential Causes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8F0123F-8338-1B32-E833-E257B1B233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77897"/>
              </p:ext>
            </p:extLst>
          </p:nvPr>
        </p:nvGraphicFramePr>
        <p:xfrm>
          <a:off x="120025" y="3187288"/>
          <a:ext cx="3660651" cy="782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FFE7298-104C-B636-E0EE-A605CC77B3FA}"/>
              </a:ext>
            </a:extLst>
          </p:cNvPr>
          <p:cNvSpPr txBox="1"/>
          <p:nvPr/>
        </p:nvSpPr>
        <p:spPr>
          <a:xfrm>
            <a:off x="1213757" y="5774294"/>
            <a:ext cx="9764486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br>
              <a:rPr lang="en-US" b="1" i="1" dirty="0">
                <a:latin typeface="+mj-lt"/>
              </a:rPr>
            </a:br>
            <a:endParaRPr lang="en-SG" b="1" i="1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C03EC-3AB2-C94E-F594-3B10DAA0C158}"/>
              </a:ext>
            </a:extLst>
          </p:cNvPr>
          <p:cNvSpPr txBox="1"/>
          <p:nvPr/>
        </p:nvSpPr>
        <p:spPr>
          <a:xfrm>
            <a:off x="7919423" y="2678074"/>
            <a:ext cx="3243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+mj-lt"/>
              </a:rPr>
              <a:t>&gt;3x higher default rate by 15-20 year olds compared to 60-65 year olds.</a:t>
            </a:r>
          </a:p>
        </p:txBody>
      </p:sp>
    </p:spTree>
    <p:extLst>
      <p:ext uri="{BB962C8B-B14F-4D97-AF65-F5344CB8AC3E}">
        <p14:creationId xmlns:p14="http://schemas.microsoft.com/office/powerpoint/2010/main" val="353203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9CB79A-EA9D-CF13-C139-7CEF324849B0}"/>
              </a:ext>
            </a:extLst>
          </p:cNvPr>
          <p:cNvSpPr/>
          <p:nvPr/>
        </p:nvSpPr>
        <p:spPr>
          <a:xfrm>
            <a:off x="457200" y="5810865"/>
            <a:ext cx="11297265" cy="61943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6E2AA-8FFC-02FA-FFF6-264980184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6347" y="1874876"/>
            <a:ext cx="9247239" cy="418788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F8D5576-41EC-E70D-A9C5-FDE7FAD33122}"/>
              </a:ext>
            </a:extLst>
          </p:cNvPr>
          <p:cNvSpPr txBox="1">
            <a:spLocks/>
          </p:cNvSpPr>
          <p:nvPr/>
        </p:nvSpPr>
        <p:spPr>
          <a:xfrm>
            <a:off x="700635" y="914400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EDA -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31302-FC8E-94A9-B5D5-A504B45B2093}"/>
              </a:ext>
            </a:extLst>
          </p:cNvPr>
          <p:cNvSpPr txBox="1"/>
          <p:nvPr/>
        </p:nvSpPr>
        <p:spPr>
          <a:xfrm>
            <a:off x="1213757" y="1474766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Lower-income borrowers are more likely to default.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C4D0B-3612-BA5F-BE99-867BFAAF134A}"/>
              </a:ext>
            </a:extLst>
          </p:cNvPr>
          <p:cNvSpPr txBox="1"/>
          <p:nvPr/>
        </p:nvSpPr>
        <p:spPr>
          <a:xfrm>
            <a:off x="1354393" y="6070034"/>
            <a:ext cx="948321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+mj-lt"/>
              </a:rPr>
              <a:t>Create a risk buffer threshold  (e.g. minimum income of $3,000/month).</a:t>
            </a:r>
            <a:endParaRPr lang="en-SG" b="1" i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A229C-6E5B-84A2-0F44-2ABD7897BBE3}"/>
              </a:ext>
            </a:extLst>
          </p:cNvPr>
          <p:cNvSpPr/>
          <p:nvPr/>
        </p:nvSpPr>
        <p:spPr>
          <a:xfrm>
            <a:off x="2126939" y="2514873"/>
            <a:ext cx="1781384" cy="355516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86895-5157-A794-E2D0-49E5378AAB30}"/>
              </a:ext>
            </a:extLst>
          </p:cNvPr>
          <p:cNvSpPr txBox="1"/>
          <p:nvPr/>
        </p:nvSpPr>
        <p:spPr>
          <a:xfrm>
            <a:off x="4062226" y="3059668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rgbClr val="C00000"/>
                </a:solidFill>
                <a:latin typeface="+mj-lt"/>
              </a:rPr>
              <a:t>Significantly higher risk of defaulting</a:t>
            </a:r>
          </a:p>
        </p:txBody>
      </p:sp>
    </p:spTree>
    <p:extLst>
      <p:ext uri="{BB962C8B-B14F-4D97-AF65-F5344CB8AC3E}">
        <p14:creationId xmlns:p14="http://schemas.microsoft.com/office/powerpoint/2010/main" val="61580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C3DAB8B-0049-187D-8247-CC134425F144}"/>
              </a:ext>
            </a:extLst>
          </p:cNvPr>
          <p:cNvSpPr/>
          <p:nvPr/>
        </p:nvSpPr>
        <p:spPr>
          <a:xfrm>
            <a:off x="457200" y="5810865"/>
            <a:ext cx="11297265" cy="61943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6150DA-9091-406F-710E-F48CD988C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952" t="2737"/>
          <a:stretch/>
        </p:blipFill>
        <p:spPr>
          <a:xfrm>
            <a:off x="3244645" y="1935506"/>
            <a:ext cx="7226710" cy="4801598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442704-94A8-1B66-0A27-94C1810F093D}"/>
              </a:ext>
            </a:extLst>
          </p:cNvPr>
          <p:cNvSpPr txBox="1">
            <a:spLocks/>
          </p:cNvSpPr>
          <p:nvPr/>
        </p:nvSpPr>
        <p:spPr>
          <a:xfrm>
            <a:off x="700635" y="914400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EDA -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4BE98-CF4A-EBA2-AAFB-9E80A61EB9D8}"/>
              </a:ext>
            </a:extLst>
          </p:cNvPr>
          <p:cNvSpPr txBox="1"/>
          <p:nvPr/>
        </p:nvSpPr>
        <p:spPr>
          <a:xfrm>
            <a:off x="1213757" y="1474766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Shorter employment history has a higher rate of defaulting.</a:t>
            </a:r>
            <a:endParaRPr lang="en-SG" sz="2000" i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19F22-83C3-67F5-70ED-0BA47716DE75}"/>
              </a:ext>
            </a:extLst>
          </p:cNvPr>
          <p:cNvSpPr txBox="1"/>
          <p:nvPr/>
        </p:nvSpPr>
        <p:spPr>
          <a:xfrm>
            <a:off x="-369831" y="2635093"/>
            <a:ext cx="464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u="sng" dirty="0">
                <a:latin typeface="+mj-lt"/>
              </a:rPr>
              <a:t>Potential Causes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B14AFA7-89DD-8423-E819-D67D1BDC1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5886337"/>
              </p:ext>
            </p:extLst>
          </p:nvPr>
        </p:nvGraphicFramePr>
        <p:xfrm>
          <a:off x="120025" y="3187288"/>
          <a:ext cx="3660651" cy="743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E20AF3-4683-81E0-8443-60BA4232F16A}"/>
              </a:ext>
            </a:extLst>
          </p:cNvPr>
          <p:cNvCxnSpPr>
            <a:cxnSpLocks/>
          </p:cNvCxnSpPr>
          <p:nvPr/>
        </p:nvCxnSpPr>
        <p:spPr>
          <a:xfrm>
            <a:off x="4530716" y="2635093"/>
            <a:ext cx="5728872" cy="20061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96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6EA98-5C34-B8F5-A7B8-B89ECD6A1A0A}"/>
              </a:ext>
            </a:extLst>
          </p:cNvPr>
          <p:cNvSpPr/>
          <p:nvPr/>
        </p:nvSpPr>
        <p:spPr>
          <a:xfrm>
            <a:off x="457200" y="5810865"/>
            <a:ext cx="11297265" cy="61943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34E98E-96FA-3F16-AE4E-7EBFC6314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9663" y="1959696"/>
            <a:ext cx="8692338" cy="4470601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1A8BA02-907D-4C73-A5B0-6357122EFF78}"/>
              </a:ext>
            </a:extLst>
          </p:cNvPr>
          <p:cNvSpPr txBox="1">
            <a:spLocks/>
          </p:cNvSpPr>
          <p:nvPr/>
        </p:nvSpPr>
        <p:spPr>
          <a:xfrm>
            <a:off x="700635" y="914400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EDA -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E134C-2582-FF27-A6D9-62B2C8B67213}"/>
              </a:ext>
            </a:extLst>
          </p:cNvPr>
          <p:cNvSpPr txBox="1"/>
          <p:nvPr/>
        </p:nvSpPr>
        <p:spPr>
          <a:xfrm>
            <a:off x="1213757" y="1474766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Credit score is a strong predictor of default risk.</a:t>
            </a:r>
            <a:endParaRPr lang="en-SG" sz="20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202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B37A-E645-AE99-1193-416C24C8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400" dirty="0"/>
              <a:t>EDA – INSIGHT</a:t>
            </a:r>
            <a:br>
              <a:rPr lang="en-US" sz="3400" dirty="0"/>
            </a:br>
            <a:r>
              <a:rPr lang="en-US" sz="2000" i="1" dirty="0"/>
              <a:t>Lowest education highest  default possibility </a:t>
            </a:r>
            <a:endParaRPr lang="en-MY" sz="2000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464F07-12A3-345D-5BB5-B8C437BCC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5586" y="2222500"/>
            <a:ext cx="5191433" cy="3740150"/>
          </a:xfrm>
        </p:spPr>
      </p:pic>
    </p:spTree>
    <p:extLst>
      <p:ext uri="{BB962C8B-B14F-4D97-AF65-F5344CB8AC3E}">
        <p14:creationId xmlns:p14="http://schemas.microsoft.com/office/powerpoint/2010/main" val="308184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BDCD-C4E0-E51C-CF80-6FEB235799A6}"/>
              </a:ext>
            </a:extLst>
          </p:cNvPr>
          <p:cNvSpPr txBox="1">
            <a:spLocks/>
          </p:cNvSpPr>
          <p:nvPr/>
        </p:nvSpPr>
        <p:spPr>
          <a:xfrm>
            <a:off x="819499" y="952935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Model PERFORMANCE comparison &amp; selection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9AF6C-1BA4-3E18-BCBE-4EA50C249AEF}"/>
              </a:ext>
            </a:extLst>
          </p:cNvPr>
          <p:cNvSpPr txBox="1"/>
          <p:nvPr/>
        </p:nvSpPr>
        <p:spPr>
          <a:xfrm>
            <a:off x="1213756" y="1599000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Analyzing Logistic Regression vs KNN</a:t>
            </a:r>
            <a:endParaRPr lang="en-SG" sz="2000" i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90FEF-7060-BD1C-7153-7A0FF5BFE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09" y="2218410"/>
            <a:ext cx="5876143" cy="16450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499737-8869-8AE2-2CA9-63FD5D3EEDAF}"/>
              </a:ext>
            </a:extLst>
          </p:cNvPr>
          <p:cNvSpPr txBox="1"/>
          <p:nvPr/>
        </p:nvSpPr>
        <p:spPr>
          <a:xfrm>
            <a:off x="1745531" y="421650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Acc. : how often the model is correct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624C5-B7B6-A117-1A5B-92DA65339525}"/>
              </a:ext>
            </a:extLst>
          </p:cNvPr>
          <p:cNvSpPr txBox="1"/>
          <p:nvPr/>
        </p:nvSpPr>
        <p:spPr>
          <a:xfrm>
            <a:off x="1745531" y="4610249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Prec.: h</a:t>
            </a:r>
            <a:r>
              <a:rPr lang="en-US" dirty="0"/>
              <a:t>ow freq. are default predictions confirmed in reality?</a:t>
            </a:r>
            <a:endParaRPr lang="en-SG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47AEF-11C5-B802-1900-4E02E43741F5}"/>
              </a:ext>
            </a:extLst>
          </p:cNvPr>
          <p:cNvSpPr txBox="1"/>
          <p:nvPr/>
        </p:nvSpPr>
        <p:spPr>
          <a:xfrm>
            <a:off x="1745531" y="4979581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Recall : finding real defaulter</a:t>
            </a:r>
            <a:r>
              <a:rPr lang="en-SG" dirty="0">
                <a:latin typeface="+mj-lt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5183E-6B27-1ACF-521A-C2D0C2126A1C}"/>
              </a:ext>
            </a:extLst>
          </p:cNvPr>
          <p:cNvSpPr txBox="1"/>
          <p:nvPr/>
        </p:nvSpPr>
        <p:spPr>
          <a:xfrm>
            <a:off x="1745531" y="536111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+mj-lt"/>
              </a:rPr>
              <a:t>Logistic Regression  is chosen for this initial model (accuracy and recall).</a:t>
            </a:r>
            <a:endParaRPr lang="en-SG" b="1" i="1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6143A0-FAD6-917D-0848-AFB6DB16CEA1}"/>
              </a:ext>
            </a:extLst>
          </p:cNvPr>
          <p:cNvSpPr/>
          <p:nvPr/>
        </p:nvSpPr>
        <p:spPr>
          <a:xfrm>
            <a:off x="2365010" y="3506376"/>
            <a:ext cx="4560042" cy="3693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D3A4B-625A-BADB-0DEC-8E0E472B239B}"/>
              </a:ext>
            </a:extLst>
          </p:cNvPr>
          <p:cNvSpPr/>
          <p:nvPr/>
        </p:nvSpPr>
        <p:spPr>
          <a:xfrm>
            <a:off x="2365010" y="2826621"/>
            <a:ext cx="4560042" cy="369331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AED1CC-1985-64C5-A818-7DD60D96836E}"/>
              </a:ext>
            </a:extLst>
          </p:cNvPr>
          <p:cNvSpPr/>
          <p:nvPr/>
        </p:nvSpPr>
        <p:spPr>
          <a:xfrm>
            <a:off x="2365010" y="3166499"/>
            <a:ext cx="4560042" cy="369331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31A71E-6B56-AC50-DBF7-A904EC82C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787" y="2313035"/>
            <a:ext cx="4246069" cy="12105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7066EE-A87F-7637-3248-82ADC39F4C72}"/>
              </a:ext>
            </a:extLst>
          </p:cNvPr>
          <p:cNvSpPr txBox="1"/>
          <p:nvPr/>
        </p:nvSpPr>
        <p:spPr>
          <a:xfrm flipH="1">
            <a:off x="7881081" y="3535830"/>
            <a:ext cx="309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Imbalance</a:t>
            </a:r>
            <a:r>
              <a:rPr lang="en-US" sz="1400" b="1" dirty="0"/>
              <a:t> </a:t>
            </a:r>
            <a:r>
              <a:rPr lang="en-US" b="1" dirty="0"/>
              <a:t>classification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170680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DD87-366D-76BE-3C55-97244BCA3C10}"/>
              </a:ext>
            </a:extLst>
          </p:cNvPr>
          <p:cNvSpPr txBox="1">
            <a:spLocks/>
          </p:cNvSpPr>
          <p:nvPr/>
        </p:nvSpPr>
        <p:spPr>
          <a:xfrm>
            <a:off x="819499" y="952935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Model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6D92E21-505F-1ED1-D59B-523B2DBCE4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7134449"/>
              </p:ext>
            </p:extLst>
          </p:nvPr>
        </p:nvGraphicFramePr>
        <p:xfrm>
          <a:off x="2032000" y="1948543"/>
          <a:ext cx="7895771" cy="4189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99B811-3DD6-1E4A-5DFB-35D114B051D9}"/>
              </a:ext>
            </a:extLst>
          </p:cNvPr>
          <p:cNvSpPr txBox="1"/>
          <p:nvPr/>
        </p:nvSpPr>
        <p:spPr>
          <a:xfrm>
            <a:off x="1282888" y="1747592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>
                <a:latin typeface="+mj-lt"/>
              </a:rPr>
              <a:t>Mock decision pipeline of a loan application</a:t>
            </a:r>
            <a:endParaRPr lang="en-SG" sz="2000" i="1" u="sng" dirty="0">
              <a:latin typeface="+mj-lt"/>
            </a:endParaRPr>
          </a:p>
        </p:txBody>
      </p:sp>
      <p:pic>
        <p:nvPicPr>
          <p:cNvPr id="8" name="Graphic 7" descr="Badge 1 outline">
            <a:extLst>
              <a:ext uri="{FF2B5EF4-FFF2-40B4-BE49-F238E27FC236}">
                <a16:creationId xmlns:a16="http://schemas.microsoft.com/office/drawing/2014/main" id="{9F070123-F7C6-15AF-BF8C-3120B60CC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5531" y="2119620"/>
            <a:ext cx="588698" cy="588698"/>
          </a:xfrm>
          <a:prstGeom prst="rect">
            <a:avLst/>
          </a:prstGeom>
        </p:spPr>
      </p:pic>
      <p:pic>
        <p:nvPicPr>
          <p:cNvPr id="12" name="Graphic 11" descr="Badge outline">
            <a:extLst>
              <a:ext uri="{FF2B5EF4-FFF2-40B4-BE49-F238E27FC236}">
                <a16:creationId xmlns:a16="http://schemas.microsoft.com/office/drawing/2014/main" id="{BE3FD52A-5EB4-45B2-5FC7-95DB507CAF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6686" y="2147702"/>
            <a:ext cx="631371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6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7787-D17C-3FBF-6669-0107771CB064}"/>
              </a:ext>
            </a:extLst>
          </p:cNvPr>
          <p:cNvSpPr txBox="1">
            <a:spLocks/>
          </p:cNvSpPr>
          <p:nvPr/>
        </p:nvSpPr>
        <p:spPr>
          <a:xfrm>
            <a:off x="819499" y="952935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A9471-58D8-E1FC-C209-48DB83B1B2D3}"/>
              </a:ext>
            </a:extLst>
          </p:cNvPr>
          <p:cNvSpPr txBox="1"/>
          <p:nvPr/>
        </p:nvSpPr>
        <p:spPr>
          <a:xfrm>
            <a:off x="1213757" y="1648937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Can we predict default risk at onboarding?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9B617-7568-A8A9-DD9B-83CC482602DB}"/>
              </a:ext>
            </a:extLst>
          </p:cNvPr>
          <p:cNvSpPr txBox="1"/>
          <p:nvPr/>
        </p:nvSpPr>
        <p:spPr>
          <a:xfrm>
            <a:off x="1282888" y="3028890"/>
            <a:ext cx="9764486" cy="83099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Yes — the model helps assess risk of default using customer profile </a:t>
            </a:r>
          </a:p>
          <a:p>
            <a:pPr algn="ctr"/>
            <a:r>
              <a:rPr lang="en-US" sz="2400" b="1" dirty="0">
                <a:latin typeface="+mj-lt"/>
              </a:rPr>
              <a:t>at the application stage.</a:t>
            </a:r>
            <a:endParaRPr lang="en-SG" sz="24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766F9-BD0F-F8CB-7B90-6394676C70F0}"/>
              </a:ext>
            </a:extLst>
          </p:cNvPr>
          <p:cNvSpPr txBox="1"/>
          <p:nvPr/>
        </p:nvSpPr>
        <p:spPr>
          <a:xfrm>
            <a:off x="1282888" y="4639675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However, more improvements can be made on the model. </a:t>
            </a:r>
            <a:endParaRPr lang="en-SG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4908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B772-E5E7-0B59-2243-E43010F1BDC5}"/>
              </a:ext>
            </a:extLst>
          </p:cNvPr>
          <p:cNvSpPr txBox="1">
            <a:spLocks/>
          </p:cNvSpPr>
          <p:nvPr/>
        </p:nvSpPr>
        <p:spPr>
          <a:xfrm>
            <a:off x="819499" y="952935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5DF42-A8F1-AB50-C3BF-4BEFAD9EBC28}"/>
              </a:ext>
            </a:extLst>
          </p:cNvPr>
          <p:cNvSpPr txBox="1"/>
          <p:nvPr/>
        </p:nvSpPr>
        <p:spPr>
          <a:xfrm>
            <a:off x="1213756" y="1558892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Actionable ideas for further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3AD10-4A9D-0FC9-0796-28474A877C6C}"/>
              </a:ext>
            </a:extLst>
          </p:cNvPr>
          <p:cNvSpPr txBox="1"/>
          <p:nvPr/>
        </p:nvSpPr>
        <p:spPr>
          <a:xfrm>
            <a:off x="2154958" y="3079084"/>
            <a:ext cx="78820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+mj-lt"/>
              </a:rPr>
              <a:t>Develop a more advanced model for easier and faster use</a:t>
            </a:r>
          </a:p>
          <a:p>
            <a:pPr marL="342900" indent="-342900" algn="ctr"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+mj-lt"/>
              </a:rPr>
              <a:t>Add features to the model for greater purpose (e.g. loan disbursement date, default date, customer’s asset ownership)</a:t>
            </a:r>
          </a:p>
          <a:p>
            <a:pPr marL="342900" indent="-342900" algn="ctr"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+mj-lt"/>
              </a:rPr>
              <a:t>Maintain list of default case detail.</a:t>
            </a:r>
          </a:p>
          <a:p>
            <a:pPr marL="342900" indent="-342900" algn="ctr">
              <a:buFont typeface="+mj-lt"/>
              <a:buAutoNum type="arabicPeriod"/>
            </a:pPr>
            <a:endParaRPr lang="en-SG" dirty="0">
              <a:latin typeface="+mj-lt"/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+mj-lt"/>
              </a:rPr>
              <a:t>Tailored loans for rejected applicants </a:t>
            </a:r>
          </a:p>
          <a:p>
            <a:pPr algn="ctr"/>
            <a:r>
              <a:rPr lang="en-US" dirty="0">
                <a:latin typeface="+mj-lt"/>
              </a:rPr>
              <a:t>(e.g., smaller loans, higher interest for borderline customers)</a:t>
            </a:r>
            <a:endParaRPr lang="en-SG" dirty="0">
              <a:latin typeface="+mj-lt"/>
            </a:endParaRPr>
          </a:p>
        </p:txBody>
      </p:sp>
      <p:pic>
        <p:nvPicPr>
          <p:cNvPr id="16" name="Graphic 15" descr="Future outline">
            <a:extLst>
              <a:ext uri="{FF2B5EF4-FFF2-40B4-BE49-F238E27FC236}">
                <a16:creationId xmlns:a16="http://schemas.microsoft.com/office/drawing/2014/main" id="{E1724581-03E4-6D76-FBDB-118495592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799" y="20490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65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0589-29D9-7175-BC18-B70A2D88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E541115-8D34-243E-5EF4-F6266B96CD95}"/>
              </a:ext>
            </a:extLst>
          </p:cNvPr>
          <p:cNvSpPr txBox="1">
            <a:spLocks/>
          </p:cNvSpPr>
          <p:nvPr/>
        </p:nvSpPr>
        <p:spPr>
          <a:xfrm>
            <a:off x="819500" y="952935"/>
            <a:ext cx="2793856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INPUT MODEL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4293706-5DC0-08F7-F573-19497DA80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0138" y="1466849"/>
            <a:ext cx="7693572" cy="4587110"/>
          </a:xfrm>
        </p:spPr>
      </p:pic>
    </p:spTree>
    <p:extLst>
      <p:ext uri="{BB962C8B-B14F-4D97-AF65-F5344CB8AC3E}">
        <p14:creationId xmlns:p14="http://schemas.microsoft.com/office/powerpoint/2010/main" val="1579360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61A9-A41C-ADEA-96E9-8A598AF3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E214-532C-270C-EF26-D0B2071D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94657"/>
          </a:xfrm>
        </p:spPr>
        <p:txBody>
          <a:bodyPr>
            <a:normAutofit/>
          </a:bodyPr>
          <a:lstStyle/>
          <a:p>
            <a:pPr algn="ctr"/>
            <a:r>
              <a:rPr lang="en-SG" sz="3400" dirty="0"/>
              <a:t>Important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32D0C-3AD7-AAA6-8FD3-C3A713A4DDFD}"/>
              </a:ext>
            </a:extLst>
          </p:cNvPr>
          <p:cNvSpPr txBox="1"/>
          <p:nvPr/>
        </p:nvSpPr>
        <p:spPr>
          <a:xfrm>
            <a:off x="1213757" y="1509002"/>
            <a:ext cx="976448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+mj-lt"/>
              </a:rPr>
              <a:t>Highlighting features that increase default risk.</a:t>
            </a:r>
            <a:endParaRPr lang="en-SG" sz="2000" i="1" dirty="0">
              <a:latin typeface="+mj-lt"/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405A5CD5-A255-136A-380F-464A192E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833" y="1909112"/>
            <a:ext cx="7190333" cy="42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21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A17DD-E6AC-D8E0-651B-733C35F07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Personal Loan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MY" sz="2400" i="1" u="sng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https://www.kaggle.com/datasets/nikhil1e9/loan-default</a:t>
            </a:r>
            <a:endParaRPr lang="en-MY" sz="2400" i="1" kern="100" dirty="0">
              <a:effectLst/>
              <a:latin typeface="+mj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400" dirty="0">
                <a:latin typeface="+mj-lt"/>
                <a:cs typeface="Arial" panose="020B0604020202020204" pitchFamily="34" charset="0"/>
              </a:rPr>
              <a:t>Singapore Ministry of Law – Insolvency Office report in individual bankruptcy cases in 2024. </a:t>
            </a:r>
            <a:r>
              <a:rPr lang="en-US" sz="2400" i="1" dirty="0">
                <a:latin typeface="+mj-lt"/>
                <a:cs typeface="Arial" panose="020B0604020202020204" pitchFamily="34" charset="0"/>
              </a:rPr>
              <a:t>https://io.mlaw.gov.sg/files/IID%20Statistics%20/NumberofBankruptcyApplicationsOrdersMadeandDischarges_April2025_.pdf</a:t>
            </a:r>
            <a:endParaRPr lang="en-MY" sz="2400" i="1" dirty="0">
              <a:latin typeface="+mj-lt"/>
              <a:cs typeface="Arial" panose="020B0604020202020204" pitchFamily="34" charset="0"/>
            </a:endParaRPr>
          </a:p>
          <a:p>
            <a:endParaRPr lang="en-MY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3B722D-04F9-96AC-8F15-C6CE2998E2B9}"/>
              </a:ext>
            </a:extLst>
          </p:cNvPr>
          <p:cNvSpPr txBox="1">
            <a:spLocks/>
          </p:cNvSpPr>
          <p:nvPr/>
        </p:nvSpPr>
        <p:spPr>
          <a:xfrm>
            <a:off x="819499" y="952935"/>
            <a:ext cx="10691265" cy="794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40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537216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C3B2-1C0F-3A43-61C9-6CF4238F6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2072062" cy="524656"/>
          </a:xfrm>
        </p:spPr>
        <p:txBody>
          <a:bodyPr>
            <a:normAutofit fontScale="90000"/>
          </a:bodyPr>
          <a:lstStyle/>
          <a:p>
            <a:r>
              <a:rPr lang="en-US" sz="3000">
                <a:cs typeface="Arial" panose="020B0604020202020204" pitchFamily="34" charset="0"/>
              </a:rPr>
              <a:t>NUMERIC HEATMAP</a:t>
            </a:r>
            <a:endParaRPr lang="en-MY" sz="3000"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B5749A-5FA3-0D40-1860-963E46B74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6155" y="914400"/>
            <a:ext cx="7978350" cy="5029200"/>
          </a:xfrm>
        </p:spPr>
      </p:pic>
    </p:spTree>
    <p:extLst>
      <p:ext uri="{BB962C8B-B14F-4D97-AF65-F5344CB8AC3E}">
        <p14:creationId xmlns:p14="http://schemas.microsoft.com/office/powerpoint/2010/main" val="971122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0D16-5783-CCA9-9C4F-5F17338C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2426023" cy="509666"/>
          </a:xfrm>
        </p:spPr>
        <p:txBody>
          <a:bodyPr>
            <a:normAutofit fontScale="90000"/>
          </a:bodyPr>
          <a:lstStyle/>
          <a:p>
            <a:r>
              <a:rPr lang="en-US" sz="3000" dirty="0">
                <a:cs typeface="Arial" panose="020B0604020202020204" pitchFamily="34" charset="0"/>
              </a:rPr>
              <a:t>NON-NUMERIC HEATMAP</a:t>
            </a:r>
            <a:endParaRPr lang="en-MY" sz="3000" dirty="0"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37570-217B-2C64-E67B-8BBAC3D26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1801" y="914400"/>
            <a:ext cx="7869836" cy="5176684"/>
          </a:xfrm>
        </p:spPr>
      </p:pic>
    </p:spTree>
    <p:extLst>
      <p:ext uri="{BB962C8B-B14F-4D97-AF65-F5344CB8AC3E}">
        <p14:creationId xmlns:p14="http://schemas.microsoft.com/office/powerpoint/2010/main" val="363789763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11206</TotalTime>
  <Words>702</Words>
  <Application>Microsoft Office PowerPoint</Application>
  <PresentationFormat>Widescreen</PresentationFormat>
  <Paragraphs>105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Calisto MT</vt:lpstr>
      <vt:lpstr>Cavolini</vt:lpstr>
      <vt:lpstr>Univers Condensed</vt:lpstr>
      <vt:lpstr>ChronicleVTI</vt:lpstr>
      <vt:lpstr>PERSONAL Loan default prediction by Dewiana 11 Jun 2025</vt:lpstr>
      <vt:lpstr>INTRODUCTION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Data cleaning and preparation</vt:lpstr>
      <vt:lpstr>PowerPoint Presentation</vt:lpstr>
      <vt:lpstr>PowerPoint Presentation</vt:lpstr>
      <vt:lpstr>PowerPoint Presentation</vt:lpstr>
      <vt:lpstr>PowerPoint Presentation</vt:lpstr>
      <vt:lpstr>EDA – INSIGHT Lowest education highest  default possibility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insights</vt:lpstr>
      <vt:lpstr>PowerPoint Presentation</vt:lpstr>
      <vt:lpstr>NUMERIC HEATMAP</vt:lpstr>
      <vt:lpstr>NON-NUMERIC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Vanda</dc:creator>
  <cp:lastModifiedBy>Regina Vanda</cp:lastModifiedBy>
  <cp:revision>84</cp:revision>
  <dcterms:created xsi:type="dcterms:W3CDTF">2025-04-27T08:57:30Z</dcterms:created>
  <dcterms:modified xsi:type="dcterms:W3CDTF">2025-06-10T08:59:24Z</dcterms:modified>
</cp:coreProperties>
</file>